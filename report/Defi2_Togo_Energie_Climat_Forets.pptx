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Accès rural à l'électricité</c:v>
                </c:pt>
              </c:strCache>
            </c:strRef>
          </c:tx>
          <c:spPr>
            <a:ln w="30480">
              <a:solidFill>
                <a:srgbClr val="B87407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/>
                </c:pt>
                <c:pt idx="1">
                  <c:v/>
                </c:pt>
                <c:pt idx="2">
                  <c:v>2000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2005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2010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2015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2020</c:v>
                </c:pt>
                <c:pt idx="23">
                  <c:v/>
                </c:pt>
                <c:pt idx="24">
                  <c:v/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3.10279958670469</c:v>
                </c:pt>
                <c:pt idx="1">
                  <c:v>3.13197689466699</c:v>
                </c:pt>
                <c:pt idx="2">
                  <c:v>6.4</c:v>
                </c:pt>
                <c:pt idx="3">
                  <c:v>5.4</c:v>
                </c:pt>
                <c:pt idx="4">
                  <c:v>6.5</c:v>
                </c:pt>
                <c:pt idx="5">
                  <c:v>7.6</c:v>
                </c:pt>
                <c:pt idx="6">
                  <c:v>8.7</c:v>
                </c:pt>
                <c:pt idx="7">
                  <c:v>9.8</c:v>
                </c:pt>
                <c:pt idx="8">
                  <c:v>7.4</c:v>
                </c:pt>
                <c:pt idx="9">
                  <c:v>11.8</c:v>
                </c:pt>
                <c:pt idx="10">
                  <c:v>12.9</c:v>
                </c:pt>
                <c:pt idx="11">
                  <c:v>13.9</c:v>
                </c:pt>
                <c:pt idx="12">
                  <c:v>9.3</c:v>
                </c:pt>
                <c:pt idx="13">
                  <c:v>16.3</c:v>
                </c:pt>
                <c:pt idx="14">
                  <c:v>15.8</c:v>
                </c:pt>
                <c:pt idx="15">
                  <c:v>17.1</c:v>
                </c:pt>
                <c:pt idx="16">
                  <c:v>21.1</c:v>
                </c:pt>
                <c:pt idx="17">
                  <c:v>19.8</c:v>
                </c:pt>
                <c:pt idx="18">
                  <c:v>21.0</c:v>
                </c:pt>
                <c:pt idx="19">
                  <c:v>19.5</c:v>
                </c:pt>
                <c:pt idx="20">
                  <c:v>26.3</c:v>
                </c:pt>
                <c:pt idx="21">
                  <c:v>23.9</c:v>
                </c:pt>
                <c:pt idx="22">
                  <c:v>24.3</c:v>
                </c:pt>
                <c:pt idx="23">
                  <c:v>24.7</c:v>
                </c:pt>
                <c:pt idx="24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Accès rural à une cuisson propre</c:v>
                </c:pt>
              </c:strCache>
            </c:strRef>
          </c:tx>
          <c:spPr>
            <a:ln w="30480">
              <a:solidFill>
                <a:srgbClr val="B32418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/>
                </c:pt>
                <c:pt idx="1">
                  <c:v/>
                </c:pt>
                <c:pt idx="2">
                  <c:v>2000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2005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2010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2015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2020</c:v>
                </c:pt>
                <c:pt idx="23">
                  <c:v/>
                </c:pt>
                <c:pt idx="24">
                  <c:v/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">
                  <c:v>0.0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  <c:pt idx="6">
                  <c:v>0.2</c:v>
                </c:pt>
                <c:pt idx="7">
                  <c:v>0.2</c:v>
                </c:pt>
                <c:pt idx="8">
                  <c:v>0.3</c:v>
                </c:pt>
                <c:pt idx="9">
                  <c:v>0.3</c:v>
                </c:pt>
                <c:pt idx="10">
                  <c:v>0.4</c:v>
                </c:pt>
                <c:pt idx="11">
                  <c:v>0.4</c:v>
                </c:pt>
                <c:pt idx="12">
                  <c:v>0.5</c:v>
                </c:pt>
                <c:pt idx="13">
                  <c:v>0.6</c:v>
                </c:pt>
                <c:pt idx="14">
                  <c:v>0.6</c:v>
                </c:pt>
                <c:pt idx="15">
                  <c:v>0.7</c:v>
                </c:pt>
                <c:pt idx="16">
                  <c:v>0.7</c:v>
                </c:pt>
                <c:pt idx="17">
                  <c:v>0.7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0.9</c:v>
                </c:pt>
                <c:pt idx="22">
                  <c:v>0.8</c:v>
                </c:pt>
                <c:pt idx="23">
                  <c:v>0.9</c:v>
                </c:pt>
                <c:pt idx="24">
                  <c:v>0.9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6C4BC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.0"/>
        </c:scaling>
        <c:delete val="0"/>
        <c:axPos val="l"/>
        <c:majorGridlines>
          <c:spPr>
            <a:ln w="6350">
              <a:solidFill>
                <a:srgbClr val="D5DED8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txPr>
    <a:bodyPr/>
    <a:lstStyle/>
    <a:p>
      <a:pPr>
        <a:defRPr sz="950">
          <a:solidFill>
            <a:srgbClr val="32423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Couvert forestier (% du territoire)</c:v>
                </c:pt>
              </c:strCache>
            </c:strRef>
          </c:tx>
          <c:spPr>
            <a:ln w="30480">
              <a:solidFill>
                <a:srgbClr val="0F7A4A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/>
                </c:pt>
                <c:pt idx="1">
                  <c:v/>
                </c:pt>
                <c:pt idx="2">
                  <c:v>2000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2005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2010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2015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2020</c:v>
                </c:pt>
                <c:pt idx="23">
                  <c:v/>
                </c:pt>
                <c:pt idx="24">
                  <c:v/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23.6643353557639</c:v>
                </c:pt>
                <c:pt idx="1">
                  <c:v>23.4929876815591</c:v>
                </c:pt>
                <c:pt idx="2">
                  <c:v>23.3216400073543</c:v>
                </c:pt>
                <c:pt idx="3">
                  <c:v>23.2672292700864</c:v>
                </c:pt>
                <c:pt idx="4">
                  <c:v>23.2128185328185</c:v>
                </c:pt>
                <c:pt idx="5">
                  <c:v>23.1584077955507</c:v>
                </c:pt>
                <c:pt idx="6">
                  <c:v>23.1039970582828</c:v>
                </c:pt>
                <c:pt idx="7">
                  <c:v>23.0495863210149</c:v>
                </c:pt>
                <c:pt idx="8">
                  <c:v>22.995175583747</c:v>
                </c:pt>
                <c:pt idx="9">
                  <c:v>22.9407648464791</c:v>
                </c:pt>
                <c:pt idx="10">
                  <c:v>22.8863541092113</c:v>
                </c:pt>
                <c:pt idx="11">
                  <c:v>22.8319433719434</c:v>
                </c:pt>
                <c:pt idx="12">
                  <c:v>22.7775326346755</c:v>
                </c:pt>
                <c:pt idx="13">
                  <c:v>22.723110865968</c:v>
                </c:pt>
                <c:pt idx="14">
                  <c:v>22.6686890972605</c:v>
                </c:pt>
                <c:pt idx="15">
                  <c:v>22.614267328553</c:v>
                </c:pt>
                <c:pt idx="16">
                  <c:v>22.5598455598456</c:v>
                </c:pt>
                <c:pt idx="17">
                  <c:v>22.5054237911381</c:v>
                </c:pt>
                <c:pt idx="18">
                  <c:v>22.4510020224306</c:v>
                </c:pt>
                <c:pt idx="19">
                  <c:v>22.3965802537231</c:v>
                </c:pt>
                <c:pt idx="20">
                  <c:v>22.3421584850156</c:v>
                </c:pt>
                <c:pt idx="21">
                  <c:v>22.2877367163081</c:v>
                </c:pt>
                <c:pt idx="22">
                  <c:v>22.2333149476007</c:v>
                </c:pt>
                <c:pt idx="23">
                  <c:v>22.1788931788932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6C4BC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5DED8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txPr>
    <a:bodyPr/>
    <a:lstStyle/>
    <a:p>
      <a:pPr>
        <a:defRPr sz="950">
          <a:solidFill>
            <a:srgbClr val="32423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Urbain</c:v>
                </c:pt>
              </c:strCache>
            </c:strRef>
          </c:tx>
          <c:spPr>
            <a:ln w="30480">
              <a:solidFill>
                <a:srgbClr val="125E6B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/>
                </c:pt>
                <c:pt idx="1">
                  <c:v/>
                </c:pt>
                <c:pt idx="2">
                  <c:v>2000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2005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2010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2015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2020</c:v>
                </c:pt>
                <c:pt idx="23">
                  <c:v/>
                </c:pt>
                <c:pt idx="24">
                  <c:v/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41.2</c:v>
                </c:pt>
                <c:pt idx="1">
                  <c:v>42.9995880126953</c:v>
                </c:pt>
                <c:pt idx="2">
                  <c:v>38.5</c:v>
                </c:pt>
                <c:pt idx="3">
                  <c:v>47.9</c:v>
                </c:pt>
                <c:pt idx="4">
                  <c:v>50.2</c:v>
                </c:pt>
                <c:pt idx="5">
                  <c:v>52.6</c:v>
                </c:pt>
                <c:pt idx="6">
                  <c:v>55.0</c:v>
                </c:pt>
                <c:pt idx="7">
                  <c:v>57.4</c:v>
                </c:pt>
                <c:pt idx="8">
                  <c:v>64.9</c:v>
                </c:pt>
                <c:pt idx="9">
                  <c:v>62.2</c:v>
                </c:pt>
                <c:pt idx="10">
                  <c:v>64.7</c:v>
                </c:pt>
                <c:pt idx="11">
                  <c:v>67.2</c:v>
                </c:pt>
                <c:pt idx="12">
                  <c:v>66.5</c:v>
                </c:pt>
                <c:pt idx="13">
                  <c:v>77.9</c:v>
                </c:pt>
                <c:pt idx="14">
                  <c:v>76.3</c:v>
                </c:pt>
                <c:pt idx="15">
                  <c:v>78.1</c:v>
                </c:pt>
                <c:pt idx="16">
                  <c:v>83.2</c:v>
                </c:pt>
                <c:pt idx="17">
                  <c:v>82.0</c:v>
                </c:pt>
                <c:pt idx="18">
                  <c:v>84.4</c:v>
                </c:pt>
                <c:pt idx="19">
                  <c:v>88.8</c:v>
                </c:pt>
                <c:pt idx="20">
                  <c:v>83.1</c:v>
                </c:pt>
                <c:pt idx="21">
                  <c:v>91.6</c:v>
                </c:pt>
                <c:pt idx="22">
                  <c:v>94.0</c:v>
                </c:pt>
                <c:pt idx="23">
                  <c:v>96.3</c:v>
                </c:pt>
                <c:pt idx="24">
                  <c:v>96.5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Rural</c:v>
                </c:pt>
              </c:strCache>
            </c:strRef>
          </c:tx>
          <c:spPr>
            <a:ln w="30480">
              <a:solidFill>
                <a:srgbClr val="B87407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/>
                </c:pt>
                <c:pt idx="1">
                  <c:v/>
                </c:pt>
                <c:pt idx="2">
                  <c:v>2000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2005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2010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2015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2020</c:v>
                </c:pt>
                <c:pt idx="23">
                  <c:v/>
                </c:pt>
                <c:pt idx="24">
                  <c:v/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3.10279958670469</c:v>
                </c:pt>
                <c:pt idx="1">
                  <c:v>3.13197689466699</c:v>
                </c:pt>
                <c:pt idx="2">
                  <c:v>6.4</c:v>
                </c:pt>
                <c:pt idx="3">
                  <c:v>5.4</c:v>
                </c:pt>
                <c:pt idx="4">
                  <c:v>6.5</c:v>
                </c:pt>
                <c:pt idx="5">
                  <c:v>7.6</c:v>
                </c:pt>
                <c:pt idx="6">
                  <c:v>8.7</c:v>
                </c:pt>
                <c:pt idx="7">
                  <c:v>9.8</c:v>
                </c:pt>
                <c:pt idx="8">
                  <c:v>7.4</c:v>
                </c:pt>
                <c:pt idx="9">
                  <c:v>11.8</c:v>
                </c:pt>
                <c:pt idx="10">
                  <c:v>12.9</c:v>
                </c:pt>
                <c:pt idx="11">
                  <c:v>13.9</c:v>
                </c:pt>
                <c:pt idx="12">
                  <c:v>9.3</c:v>
                </c:pt>
                <c:pt idx="13">
                  <c:v>16.3</c:v>
                </c:pt>
                <c:pt idx="14">
                  <c:v>15.8</c:v>
                </c:pt>
                <c:pt idx="15">
                  <c:v>17.1</c:v>
                </c:pt>
                <c:pt idx="16">
                  <c:v>21.1</c:v>
                </c:pt>
                <c:pt idx="17">
                  <c:v>19.8</c:v>
                </c:pt>
                <c:pt idx="18">
                  <c:v>21.0</c:v>
                </c:pt>
                <c:pt idx="19">
                  <c:v>19.5</c:v>
                </c:pt>
                <c:pt idx="20">
                  <c:v>26.3</c:v>
                </c:pt>
                <c:pt idx="21">
                  <c:v>23.9</c:v>
                </c:pt>
                <c:pt idx="22">
                  <c:v>24.3</c:v>
                </c:pt>
                <c:pt idx="23">
                  <c:v>24.7</c:v>
                </c:pt>
                <c:pt idx="24">
                  <c:v>25.0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6C4BC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</c:scaling>
        <c:delete val="0"/>
        <c:axPos val="l"/>
        <c:majorGridlines>
          <c:spPr>
            <a:ln w="6350">
              <a:solidFill>
                <a:srgbClr val="D5DED8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txPr>
    <a:bodyPr/>
    <a:lstStyle/>
    <a:p>
      <a:pPr>
        <a:defRPr sz="950">
          <a:solidFill>
            <a:srgbClr val="32423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rgbClr val="85938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Bois de chauffe</c:v>
                </c:pt>
                <c:pt idx="1">
                  <c:v>Charbon de bois</c:v>
                </c:pt>
                <c:pt idx="2">
                  <c:v>GPL / gaz</c:v>
                </c:pt>
                <c:pt idx="3">
                  <c:v>Électricité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48.2</c:v>
                </c:pt>
                <c:pt idx="1">
                  <c:v>42.1</c:v>
                </c:pt>
                <c:pt idx="2">
                  <c:v>6.6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rgbClr val="B3241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Bois de chauffe</c:v>
                </c:pt>
                <c:pt idx="1">
                  <c:v>Charbon de bois</c:v>
                </c:pt>
                <c:pt idx="2">
                  <c:v>GPL / gaz</c:v>
                </c:pt>
                <c:pt idx="3">
                  <c:v>Électricité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51.8</c:v>
                </c:pt>
                <c:pt idx="1">
                  <c:v>37.6</c:v>
                </c:pt>
                <c:pt idx="2">
                  <c:v>8.8</c:v>
                </c:pt>
                <c:pt idx="3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6C4B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</c:scaling>
        <c:delete val="0"/>
        <c:axPos val="b"/>
        <c:majorGridlines>
          <c:spPr>
            <a:ln w="6350">
              <a:solidFill>
                <a:srgbClr val="D5DED8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50"/>
          </a:pPr>
        </a:p>
      </c:txPr>
    </c:legend>
    <c:dispBlanksAs val="gap"/>
  </c:chart>
  <c:txPr>
    <a:bodyPr/>
    <a:lstStyle/>
    <a:p>
      <a:pPr>
        <a:defRPr sz="950">
          <a:solidFill>
            <a:srgbClr val="32423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« renouvelable » de l'énergie finale</c:v>
                </c:pt>
              </c:strCache>
            </c:strRef>
          </c:tx>
          <c:spPr>
            <a:ln w="30480">
              <a:solidFill>
                <a:srgbClr val="0F7A4A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/>
                </c:pt>
                <c:pt idx="1">
                  <c:v/>
                </c:pt>
                <c:pt idx="2">
                  <c:v>2000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2005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2010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2015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2020</c:v>
                </c:pt>
                <c:pt idx="23">
                  <c:v/>
                </c:pt>
                <c:pt idx="24">
                  <c:v/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77.8</c:v>
                </c:pt>
                <c:pt idx="1">
                  <c:v>73.1</c:v>
                </c:pt>
                <c:pt idx="2">
                  <c:v>77.1</c:v>
                </c:pt>
                <c:pt idx="3">
                  <c:v>82.0</c:v>
                </c:pt>
                <c:pt idx="4">
                  <c:v>78.7</c:v>
                </c:pt>
                <c:pt idx="5">
                  <c:v>74.8</c:v>
                </c:pt>
                <c:pt idx="6">
                  <c:v>76.1</c:v>
                </c:pt>
                <c:pt idx="7">
                  <c:v>77.2</c:v>
                </c:pt>
                <c:pt idx="8">
                  <c:v>79.7</c:v>
                </c:pt>
                <c:pt idx="9">
                  <c:v>79.9</c:v>
                </c:pt>
                <c:pt idx="10">
                  <c:v>76.5</c:v>
                </c:pt>
                <c:pt idx="11">
                  <c:v>63.4</c:v>
                </c:pt>
                <c:pt idx="12">
                  <c:v>65.8</c:v>
                </c:pt>
                <c:pt idx="13">
                  <c:v>69.1</c:v>
                </c:pt>
                <c:pt idx="14">
                  <c:v>72.7</c:v>
                </c:pt>
                <c:pt idx="15">
                  <c:v>76.2</c:v>
                </c:pt>
                <c:pt idx="16">
                  <c:v>81.4</c:v>
                </c:pt>
                <c:pt idx="17">
                  <c:v>81.0</c:v>
                </c:pt>
                <c:pt idx="18">
                  <c:v>80.7</c:v>
                </c:pt>
                <c:pt idx="19">
                  <c:v>78.4</c:v>
                </c:pt>
                <c:pt idx="20">
                  <c:v>76.7</c:v>
                </c:pt>
                <c:pt idx="21">
                  <c:v>78.6</c:v>
                </c:pt>
                <c:pt idx="22">
                  <c:v>76.2</c:v>
                </c:pt>
                <c:pt idx="23">
                  <c:v>75.1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Ménages ayant accès à une cuisson propre</c:v>
                </c:pt>
              </c:strCache>
            </c:strRef>
          </c:tx>
          <c:spPr>
            <a:ln w="30480">
              <a:solidFill>
                <a:srgbClr val="B32418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/>
                </c:pt>
                <c:pt idx="1">
                  <c:v/>
                </c:pt>
                <c:pt idx="2">
                  <c:v>2000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2005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2010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2015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2020</c:v>
                </c:pt>
                <c:pt idx="23">
                  <c:v/>
                </c:pt>
                <c:pt idx="24">
                  <c:v/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0.7</c:v>
                </c:pt>
                <c:pt idx="6">
                  <c:v>0.9</c:v>
                </c:pt>
                <c:pt idx="7">
                  <c:v>1.1</c:v>
                </c:pt>
                <c:pt idx="8">
                  <c:v>1.5</c:v>
                </c:pt>
                <c:pt idx="9">
                  <c:v>1.8</c:v>
                </c:pt>
                <c:pt idx="10">
                  <c:v>2.3</c:v>
                </c:pt>
                <c:pt idx="11">
                  <c:v>2.8</c:v>
                </c:pt>
                <c:pt idx="12">
                  <c:v>3.3</c:v>
                </c:pt>
                <c:pt idx="13">
                  <c:v>3.9</c:v>
                </c:pt>
                <c:pt idx="14">
                  <c:v>4.5</c:v>
                </c:pt>
                <c:pt idx="15">
                  <c:v>5.3</c:v>
                </c:pt>
                <c:pt idx="16">
                  <c:v>6.0</c:v>
                </c:pt>
                <c:pt idx="17">
                  <c:v>6.7</c:v>
                </c:pt>
                <c:pt idx="18">
                  <c:v>7.6</c:v>
                </c:pt>
                <c:pt idx="19">
                  <c:v>8.1</c:v>
                </c:pt>
                <c:pt idx="20">
                  <c:v>9.0</c:v>
                </c:pt>
                <c:pt idx="21">
                  <c:v>9.6</c:v>
                </c:pt>
                <c:pt idx="22">
                  <c:v>10.4</c:v>
                </c:pt>
                <c:pt idx="23">
                  <c:v>11.0</c:v>
                </c:pt>
                <c:pt idx="24">
                  <c:v>11.9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6C4BC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.0"/>
        </c:scaling>
        <c:delete val="0"/>
        <c:axPos val="l"/>
        <c:majorGridlines>
          <c:spPr>
            <a:ln w="6350">
              <a:solidFill>
                <a:srgbClr val="D5DED8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txPr>
    <a:bodyPr/>
    <a:lstStyle/>
    <a:p>
      <a:pPr>
        <a:defRPr sz="950">
          <a:solidFill>
            <a:srgbClr val="32423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Masse brute (Gg, tel que publié)</c:v>
                </c:pt>
              </c:strCache>
            </c:strRef>
          </c:tx>
          <c:spPr>
            <a:solidFill>
              <a:srgbClr val="85938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Agriculture &amp; forêts (AFAT)</c:v>
                </c:pt>
                <c:pt idx="1">
                  <c:v>Énergie</c:v>
                </c:pt>
                <c:pt idx="2">
                  <c:v>Industrie (PIUP)</c:v>
                </c:pt>
                <c:pt idx="3">
                  <c:v>Déchets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87.7</c:v>
                </c:pt>
                <c:pt idx="1">
                  <c:v>6.2</c:v>
                </c:pt>
                <c:pt idx="2">
                  <c:v>6.1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Équivalent CO₂ (PRG 100 ans)</c:v>
                </c:pt>
              </c:strCache>
            </c:strRef>
          </c:tx>
          <c:spPr>
            <a:solidFill>
              <a:srgbClr val="B3241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Agriculture &amp; forêts (AFAT)</c:v>
                </c:pt>
                <c:pt idx="1">
                  <c:v>Énergie</c:v>
                </c:pt>
                <c:pt idx="2">
                  <c:v>Industrie (PIUP)</c:v>
                </c:pt>
                <c:pt idx="3">
                  <c:v>Déchets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41.8</c:v>
                </c:pt>
                <c:pt idx="1">
                  <c:v>26.8</c:v>
                </c:pt>
                <c:pt idx="2">
                  <c:v>31.1</c:v>
                </c:pt>
                <c:pt idx="3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6C4B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b"/>
        <c:majorGridlines>
          <c:spPr>
            <a:ln w="6350">
              <a:solidFill>
                <a:srgbClr val="D5DED8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50"/>
          </a:pPr>
        </a:p>
      </c:txPr>
    </c:legend>
    <c:dispBlanksAs val="gap"/>
  </c:chart>
  <c:txPr>
    <a:bodyPr/>
    <a:lstStyle/>
    <a:p>
      <a:pPr>
        <a:defRPr sz="950">
          <a:solidFill>
            <a:srgbClr val="32423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Indice de vulnérabilité</c:v>
                </c:pt>
              </c:strCache>
            </c:strRef>
          </c:tx>
          <c:spPr>
            <a:solidFill>
              <a:srgbClr val="0F7A4A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Mont Balam</c:v>
                </c:pt>
                <c:pt idx="1">
                  <c:v>Forêt Tiyadja</c:v>
                </c:pt>
                <c:pt idx="2">
                  <c:v>Nuatja Sud</c:v>
                </c:pt>
                <c:pt idx="3">
                  <c:v>Asrama</c:v>
                </c:pt>
                <c:pt idx="4">
                  <c:v>Tetetou Nord</c:v>
                </c:pt>
                <c:pt idx="5">
                  <c:v>Amakpape</c:v>
                </c:pt>
                <c:pt idx="6">
                  <c:v>des Deux Bena</c:v>
                </c:pt>
                <c:pt idx="7">
                  <c:v>Sadjibou</c:v>
                </c:pt>
                <c:pt idx="8">
                  <c:v>Assoukoko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63.6</c:v>
                </c:pt>
                <c:pt idx="1">
                  <c:v>65.2</c:v>
                </c:pt>
                <c:pt idx="2">
                  <c:v>66.1</c:v>
                </c:pt>
                <c:pt idx="3">
                  <c:v>66.6</c:v>
                </c:pt>
                <c:pt idx="4">
                  <c:v>68.2</c:v>
                </c:pt>
                <c:pt idx="5">
                  <c:v>70.5</c:v>
                </c:pt>
                <c:pt idx="6">
                  <c:v>72.0</c:v>
                </c:pt>
                <c:pt idx="7">
                  <c:v>85.7</c:v>
                </c:pt>
                <c:pt idx="8">
                  <c:v>86.5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6C4B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b"/>
        <c:majorGridlines>
          <c:spPr>
            <a:ln w="6350">
              <a:solidFill>
                <a:srgbClr val="D5DE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32423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armoiries_t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1371600"/>
            <a:ext cx="2224278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325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90">
                <a:solidFill>
                  <a:srgbClr val="93BFA6"/>
                </a:solidFill>
                <a:latin typeface="Segoe UI"/>
              </a:rPr>
              <a:t>DÉFI 2 · DATALAB.GOUV.TG · RÉPUBLIQUE TOGOLAISE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8046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1">
                <a:solidFill>
                  <a:srgbClr val="FFFFFF"/>
                </a:solidFill>
                <a:latin typeface="Segoe UI"/>
              </a:rPr>
              <a:t>Électrifier les campagnes
sans brûler les forêts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7772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E9F2EC"/>
                </a:solidFill>
                <a:latin typeface="Segoe UI"/>
              </a:rPr>
              <a:t>Le Togo vise l'accès universel à l'électricité en 2030. Les données montrent que l'objectif ne se joue pas sur le réseau : il se joue sur la cuisson des ménages, qui consomme la forêt.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09160"/>
            <a:ext cx="2606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60">
                <a:solidFill>
                  <a:srgbClr val="93BFA6"/>
                </a:solidFill>
                <a:latin typeface="Segoe UI"/>
              </a:rPr>
              <a:t>ACCÈS RURAL À L'ÉLECTRICITÉ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93776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25 %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4709160"/>
            <a:ext cx="2606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60">
                <a:solidFill>
                  <a:srgbClr val="93BFA6"/>
                </a:solidFill>
                <a:latin typeface="Segoe UI"/>
              </a:rPr>
              <a:t>MÉNAGES AU BOIS OU AU CHARBON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493776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89 %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4709160"/>
            <a:ext cx="2606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60">
                <a:solidFill>
                  <a:srgbClr val="93BFA6"/>
                </a:solidFill>
                <a:latin typeface="Segoe UI"/>
              </a:rPr>
              <a:t>FORÊT PERDUE CHAQUE ANNÉE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493776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−2 960 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59612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KOUTSAVA Kossi Epiphane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03504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3BFA6"/>
                </a:solidFill>
                <a:latin typeface="Segoe UI"/>
              </a:rPr>
              <a:t>Six jeux de données du défi · datalab.gouv.tg — Banque Mondiale, inventaire national des GES 2018, stations météorologiques, forêts classées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70">
                <a:solidFill>
                  <a:srgbClr val="5D6E64"/>
                </a:solidFill>
                <a:latin typeface="Segoe UI"/>
              </a:rPr>
              <a:t>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50" b="1">
                <a:solidFill>
                  <a:srgbClr val="0C1A14"/>
                </a:solidFill>
                <a:latin typeface="Segoe UI"/>
              </a:rPr>
              <a:t>Six jeux de données, une seule question : où agir en premier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437376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Défi 2 · Énergie, Climat &amp; Forêts au Togo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373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2 / 10</a:t>
            </a:r>
          </a:p>
        </p:txBody>
      </p:sp>
      <p:pic>
        <p:nvPicPr>
          <p:cNvPr id="7" name="Picture 6" descr="armoiries_t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16073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572768"/>
            <a:ext cx="534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C1A14"/>
                </a:solidFill>
                <a:latin typeface="Segoe UI"/>
              </a:rPr>
              <a:t>Accès à l'électricité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5254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D6E64"/>
                </a:solidFill>
                <a:latin typeface="Segoe UI"/>
              </a:rPr>
              <a:t>Banque Mondiale · total, urbain, rural · 1998–2022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5575" y="1572768"/>
            <a:ext cx="534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C1A14"/>
                </a:solidFill>
                <a:latin typeface="Segoe UI"/>
              </a:rPr>
              <a:t>Cuisson des ménages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575" y="1792224"/>
            <a:ext cx="5254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D6E64"/>
                </a:solidFill>
                <a:latin typeface="Segoe UI"/>
              </a:rPr>
              <a:t>Combustible principal (deux enquêtes 2014 et 2017) et accès à une cuisson propre, série annuelle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14016"/>
            <a:ext cx="534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C1A14"/>
                </a:solidFill>
                <a:latin typeface="Segoe UI"/>
              </a:rPr>
              <a:t>Énergies renouvelables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33472"/>
            <a:ext cx="5254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D6E64"/>
                </a:solidFill>
                <a:latin typeface="Segoe UI"/>
              </a:rPr>
              <a:t>Part des renouvelables dans la consommation finale, croisée avec la cuisson propre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5575" y="2414016"/>
            <a:ext cx="534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C1A14"/>
                </a:solidFill>
                <a:latin typeface="Segoe UI"/>
              </a:rPr>
              <a:t>Couvert forestier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2633472"/>
            <a:ext cx="5254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D6E64"/>
                </a:solidFill>
                <a:latin typeface="Segoe UI"/>
              </a:rPr>
              <a:t>Surface forestière · 1990–2021 · % du territoire et km²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255264"/>
            <a:ext cx="534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C1A14"/>
                </a:solidFill>
                <a:latin typeface="Segoe UI"/>
              </a:rPr>
              <a:t>Inventaire GES 2018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474720"/>
            <a:ext cx="5254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D6E64"/>
                </a:solidFill>
                <a:latin typeface="Segoe UI"/>
              </a:rPr>
              <a:t>Émissions par secteur et par gaz, relues en équivalent CO₂ (PRG 100 ans, AR5)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5575" y="3255264"/>
            <a:ext cx="534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C1A14"/>
                </a:solidFill>
                <a:latin typeface="Segoe UI"/>
              </a:rPr>
              <a:t>Forêts classées &amp; climat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575" y="3474720"/>
            <a:ext cx="5254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D6E64"/>
                </a:solidFill>
                <a:latin typeface="Segoe UI"/>
              </a:rPr>
              <a:t>53 forêts classées (surface, enclavement) et 10 stations météorologiques 2013-2019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43400"/>
            <a:ext cx="11057839" cy="1737360"/>
          </a:xfrm>
          <a:prstGeom prst="roundRect">
            <a:avLst>
              <a:gd name="adj" fmla="val 5000"/>
            </a:avLst>
          </a:prstGeom>
          <a:solidFill>
            <a:srgbClr val="E7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480560"/>
            <a:ext cx="106920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spc="60">
                <a:solidFill>
                  <a:srgbClr val="0F7A4A"/>
                </a:solidFill>
                <a:latin typeface="Segoe UI"/>
              </a:rPr>
              <a:t>CE QUE CES DONNÉES NE PERMETTENT PAS DE DIRE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709160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C1A14"/>
                </a:solidFill>
                <a:latin typeface="Segoe UI"/>
              </a:rPr>
              <a:t>Aucun coût ni budget dans les données : les recommandations portent sur un ordre de priorité et des cibles physiques, pas sur un plan de financement.   ·   La cuisson n'est mesurée directement qu'en 2014 et 2017 : on lit un contraste, pas une tendance.   ·   La part du recul forestier imputable au bois-énergie n'est tranchée par aucune source : elle reste un curseur explicite dans le tableau de bord.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70">
                <a:solidFill>
                  <a:srgbClr val="5D6E64"/>
                </a:solidFill>
                <a:latin typeface="Segoe UI"/>
              </a:rPr>
              <a:t>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50" b="1">
                <a:solidFill>
                  <a:srgbClr val="0C1A14"/>
                </a:solidFill>
                <a:latin typeface="Segoe UI"/>
              </a:rPr>
              <a:t>Cinq chiffres qui commandent tout le reste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437376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Défi 2 · Énergie, Climat &amp; Forêts au Togo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373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3 / 10</a:t>
            </a:r>
          </a:p>
        </p:txBody>
      </p:sp>
      <p:pic>
        <p:nvPicPr>
          <p:cNvPr id="7" name="Picture 6" descr="armoiries_t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16073" cy="3108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1572768"/>
            <a:ext cx="2123785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709928"/>
            <a:ext cx="18128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ACCÈS RURAL À L'ÉLECTRICITÉ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181288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87407"/>
                </a:solidFill>
                <a:latin typeface="Segoe UI"/>
              </a:rPr>
              <a:t>25</a:t>
            </a:r>
            <a:r>
              <a:rPr sz="2600" b="1">
                <a:solidFill>
                  <a:srgbClr val="B87407"/>
                </a:solidFill>
                <a:latin typeface="Segoe UI"/>
              </a:rPr>
              <a:t>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14016"/>
            <a:ext cx="181288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contre 96 % en ville en 2022 — 72 points d'écart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0441" y="1572768"/>
            <a:ext cx="2123785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5889" y="1709928"/>
            <a:ext cx="18128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RURAUX PRIVÉS D'ÉLECTRICITÉ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5889" y="1938528"/>
            <a:ext cx="181288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32418"/>
                </a:solidFill>
                <a:latin typeface="Segoe UI"/>
              </a:rPr>
              <a:t>+19</a:t>
            </a:r>
            <a:r>
              <a:rPr sz="2600" b="1">
                <a:solidFill>
                  <a:srgbClr val="B32418"/>
                </a:solidFill>
                <a:latin typeface="Segoe UI"/>
              </a:rPr>
              <a:t>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5889" y="2414016"/>
            <a:ext cx="181288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depuis 1998 — de 3,11 à 3,72 M de personnes, alors que le taux d'accès était multiplié par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3954" y="1572768"/>
            <a:ext cx="2123785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9402" y="1709928"/>
            <a:ext cx="18128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MÉNAGES AU BOIS OU AU CHARBON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9402" y="1938528"/>
            <a:ext cx="181288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32418"/>
                </a:solidFill>
                <a:latin typeface="Segoe UI"/>
              </a:rPr>
              <a:t>89</a:t>
            </a:r>
            <a:r>
              <a:rPr sz="2600" b="1">
                <a:solidFill>
                  <a:srgbClr val="B32418"/>
                </a:solidFill>
                <a:latin typeface="Segoe UI"/>
              </a:rPr>
              <a:t>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2414016"/>
            <a:ext cx="181288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en 2017, contre 90 % en 2014 : aucun recul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7468" y="1572768"/>
            <a:ext cx="2123785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2916" y="1709928"/>
            <a:ext cx="18128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FORÊT PERDUE CHAQUE ANNÉE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2916" y="1938528"/>
            <a:ext cx="181288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32418"/>
                </a:solidFill>
                <a:latin typeface="Segoe UI"/>
              </a:rPr>
              <a:t>2 960</a:t>
            </a:r>
            <a:r>
              <a:rPr sz="2600" b="1">
                <a:solidFill>
                  <a:srgbClr val="B32418"/>
                </a:solidFill>
                <a:latin typeface="Segoe UI"/>
              </a:rPr>
              <a:t> 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2916" y="2414016"/>
            <a:ext cx="181288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dans le régime en cours depuis 2000 — trois fois moins que dans les années 1990, mais sans une seule année de reprise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0981" y="1572768"/>
            <a:ext cx="2123785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429" y="1709928"/>
            <a:ext cx="18128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ACCÉLÉRATION REQUISE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6429" y="1938528"/>
            <a:ext cx="181288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32418"/>
                </a:solidFill>
                <a:latin typeface="Segoe UI"/>
              </a:rPr>
              <a:t>× 10</a:t>
            </a:r>
            <a:r>
              <a:rPr sz="2600" b="1">
                <a:solidFill>
                  <a:srgbClr val="B32418"/>
                </a:solidFill>
                <a:latin typeface="Segoe U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429" y="2414016"/>
            <a:ext cx="181288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il faudrait +9,4 pt/an au lieu de +0,9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5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566160"/>
            <a:ext cx="106920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spc="60">
                <a:solidFill>
                  <a:srgbClr val="B32418"/>
                </a:solidFill>
                <a:latin typeface="Segoe UI"/>
              </a:rPr>
              <a:t>LE CONSTAT QUI COMMANDE TOUT LE RESTE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794760"/>
            <a:ext cx="10692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C1A14"/>
                </a:solidFill>
                <a:latin typeface="Segoe UI"/>
              </a:rPr>
              <a:t>Le rythme actuel ne mène pas à 2030, il mène à 2104. L'électrification rurale progresse de +0,91 point par an depuis 1998 ; atteindre 100 % en 2030 en demanderait +9,4, soit 10 fois plus vite. L'extension du réseau seule ne produit pas une telle accélération.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70">
                <a:solidFill>
                  <a:srgbClr val="5D6E64"/>
                </a:solidFill>
                <a:latin typeface="Segoe UI"/>
              </a:rPr>
              <a:t>LA PREUVE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50" b="1">
                <a:solidFill>
                  <a:srgbClr val="0C1A14"/>
                </a:solidFill>
                <a:latin typeface="Segoe UI"/>
              </a:rPr>
              <a:t>L'accès progresse, la forêt recule, la cuisson ne bouge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437376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Défi 2 · Énergie, Climat &amp; Forêts au Togo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373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4 / 10</a:t>
            </a:r>
          </a:p>
        </p:txBody>
      </p:sp>
      <p:pic>
        <p:nvPicPr>
          <p:cNvPr id="7" name="Picture 6" descr="armoiries_t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16073" cy="310896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572768"/>
          <a:ext cx="11057839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66928" y="3877056"/>
          <a:ext cx="11057839" cy="170078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632704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24239"/>
                </a:solidFill>
                <a:latin typeface="Segoe UI"/>
              </a:rPr>
              <a:t>Deux panneaux, un seul axe du temps : chaque série garde son échelle. Le couvert passe de 23,7 % à 22,2 % du territoire pendant que l'accès rural est multiplié par 8 — et que la cuisson propre reste à 0,9 %. L'électricité éclaire les foyers, elle ne remplace pas le bois dans les marmites.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70">
                <a:solidFill>
                  <a:srgbClr val="5D6E64"/>
                </a:solidFill>
                <a:latin typeface="Segoe UI"/>
              </a:rPr>
              <a:t>ÉLECTRIFICATION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50" b="1">
                <a:solidFill>
                  <a:srgbClr val="0C1A14"/>
                </a:solidFill>
                <a:latin typeface="Segoe UI"/>
              </a:rPr>
              <a:t>Au rythme observé, l'accès universel rural tombe en 2104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437376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Défi 2 · Énergie, Climat &amp; Forêts au Togo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373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5 / 10</a:t>
            </a:r>
          </a:p>
        </p:txBody>
      </p:sp>
      <p:pic>
        <p:nvPicPr>
          <p:cNvPr id="7" name="Picture 6" descr="armoiries_t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16073" cy="310896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572768"/>
          <a:ext cx="685800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99248" y="1572768"/>
            <a:ext cx="3925519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54696" y="1709928"/>
            <a:ext cx="36146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ÉCART VILLE / CAMPAGNE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1938528"/>
            <a:ext cx="361462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32418"/>
                </a:solidFill>
                <a:latin typeface="Segoe UI"/>
              </a:rPr>
              <a:t>72</a:t>
            </a:r>
            <a:r>
              <a:rPr sz="2600" b="1">
                <a:solidFill>
                  <a:srgbClr val="B32418"/>
                </a:solidFill>
                <a:latin typeface="Segoe UI"/>
              </a:rPr>
              <a:t>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2414016"/>
            <a:ext cx="361462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96 % contre 25 % en 2022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3054096"/>
            <a:ext cx="3925519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4696" y="3191256"/>
            <a:ext cx="36146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COUPURES SUBIES PAR LES ENTREPRISES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3419856"/>
            <a:ext cx="361462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32418"/>
                </a:solidFill>
                <a:latin typeface="Segoe UI"/>
              </a:rPr>
              <a:t>5,5</a:t>
            </a:r>
            <a:r>
              <a:rPr sz="2600" b="1">
                <a:solidFill>
                  <a:srgbClr val="B32418"/>
                </a:solidFill>
                <a:latin typeface="Segoe UI"/>
              </a:rPr>
              <a:t> /mois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3895344"/>
            <a:ext cx="3614623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94 % des entreprises touchées en 2016, contre 80 % en 2009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28032"/>
            <a:ext cx="11057839" cy="1371600"/>
          </a:xfrm>
          <a:prstGeom prst="roundRect">
            <a:avLst>
              <a:gd name="adj" fmla="val 5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965192"/>
            <a:ext cx="106920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spc="60">
                <a:solidFill>
                  <a:srgbClr val="B87407"/>
                </a:solidFill>
                <a:latin typeface="Segoe UI"/>
              </a:rPr>
              <a:t>DÉCISION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193792"/>
            <a:ext cx="10692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C1A14"/>
                </a:solidFill>
                <a:latin typeface="Segoe UI"/>
              </a:rPr>
              <a:t>Un facteur d'accélération de cet ordre ne s'obtient pas en prolongeant le réseau, dont le coût au raccordement croît avec la distance. Il s'obtient par le solaire décentralisé — mini-réseaux et kits domestiques — déployable sans attendre la ligne moyenne tension. Second argument : le réseau s'est étendu plus vite qu'il ne s'est consolidé, la part d'entreprises subissant des coupures a augmenté.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70">
                <a:solidFill>
                  <a:srgbClr val="5D6E64"/>
                </a:solidFill>
                <a:latin typeface="Segoe UI"/>
              </a:rPr>
              <a:t>CUISSON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50" b="1">
                <a:solidFill>
                  <a:srgbClr val="0C1A14"/>
                </a:solidFill>
                <a:latin typeface="Segoe UI"/>
              </a:rPr>
              <a:t>Le bois de feu n'est pas une énergie du passé : sa part augmente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437376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Défi 2 · Énergie, Climat &amp; Forêts au Togo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373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6 / 10</a:t>
            </a:r>
          </a:p>
        </p:txBody>
      </p:sp>
      <p:pic>
        <p:nvPicPr>
          <p:cNvPr id="7" name="Picture 6" descr="armoiries_t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16073" cy="310896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572768"/>
          <a:ext cx="68580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99248" y="1572768"/>
            <a:ext cx="3925519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54696" y="1709928"/>
            <a:ext cx="36146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BOIS BRUT, ENTRE LES DEUX ENQUÊTES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1938528"/>
            <a:ext cx="361462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32418"/>
                </a:solidFill>
                <a:latin typeface="Segoe UI"/>
              </a:rPr>
              <a:t>+3,6</a:t>
            </a:r>
            <a:r>
              <a:rPr sz="2600" b="1">
                <a:solidFill>
                  <a:srgbClr val="B32418"/>
                </a:solidFill>
                <a:latin typeface="Segoe UI"/>
              </a:rPr>
              <a:t>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2414016"/>
            <a:ext cx="361462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de 48,2 % à 51,8 % des ménages, quand le charbon perd 4,5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3236976"/>
            <a:ext cx="3925519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4696" y="3374136"/>
            <a:ext cx="36146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MORTALITÉ ATTRIBUÉE À LA POLLUTION DE L'AIR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3602736"/>
            <a:ext cx="361462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32418"/>
                </a:solidFill>
                <a:latin typeface="Segoe UI"/>
              </a:rPr>
              <a:t>223</a:t>
            </a:r>
            <a:r>
              <a:rPr sz="2600" b="1">
                <a:solidFill>
                  <a:srgbClr val="B32418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4078224"/>
            <a:ext cx="361462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décès pour 100 000 habitants (2019) · PM2,5 à 52 µg/m³, soit × 10 la ligne directrice OMS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92040"/>
            <a:ext cx="11057839" cy="1280160"/>
          </a:xfrm>
          <a:prstGeom prst="roundRect">
            <a:avLst>
              <a:gd name="adj" fmla="val 5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029200"/>
            <a:ext cx="106920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spc="60">
                <a:solidFill>
                  <a:srgbClr val="B32418"/>
                </a:solidFill>
                <a:latin typeface="Segoe UI"/>
              </a:rPr>
              <a:t>ALERTE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257800"/>
            <a:ext cx="10692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C1A14"/>
                </a:solidFill>
                <a:latin typeface="Segoe UI"/>
              </a:rPr>
              <a:t>La transition n'a pas commencé, elle a reculé. Le mouvement observé est un glissement du charbon vers le bois brut — le combustible le plus émetteur de particules à l'intérieur des habitations — pendant que le total biomasse reste à 89 % des ménages.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70">
                <a:solidFill>
                  <a:srgbClr val="5D6E64"/>
                </a:solidFill>
                <a:latin typeface="Segoe UI"/>
              </a:rPr>
              <a:t>L'INDICATEUR TROMPEUR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50" b="1">
                <a:solidFill>
                  <a:srgbClr val="0C1A14"/>
                </a:solidFill>
                <a:latin typeface="Segoe UI"/>
              </a:rPr>
              <a:t>« Renouvelable » ne veut pas dire « propre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437376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Défi 2 · Énergie, Climat &amp; Forêts au Togo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373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7 / 10</a:t>
            </a:r>
          </a:p>
        </p:txBody>
      </p:sp>
      <p:pic>
        <p:nvPicPr>
          <p:cNvPr id="7" name="Picture 6" descr="armoiries_t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16073" cy="310896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572768"/>
          <a:ext cx="68580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99248" y="1609344"/>
            <a:ext cx="392551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24239"/>
                </a:solidFill>
                <a:latin typeface="Segoe UI"/>
              </a:rPr>
              <a:t>En 2021, 75,1 % de l'énergie finale consommée au Togo est comptée comme renouvelable — un taux que peu de pays affichent.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324239"/>
                </a:solidFill>
                <a:latin typeface="Segoe UI"/>
              </a:rPr>
              <a:t>Au même moment, 11,9 % des ménages seulement cuisinent proprement.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324239"/>
                </a:solidFill>
                <a:latin typeface="Segoe UI"/>
              </a:rPr>
              <a:t>L'écart entre les deux courbes, c'est la biomasse brûlée dans les foyers : du bois et du charbon prélevés plus vite qu'ils ne se régénèrent, brûlés sans évacuation des fumées.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892040"/>
            <a:ext cx="11057839" cy="1280160"/>
          </a:xfrm>
          <a:prstGeom prst="roundRect">
            <a:avLst>
              <a:gd name="adj" fmla="val 5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029200"/>
            <a:ext cx="106920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spc="60">
                <a:solidFill>
                  <a:srgbClr val="B87407"/>
                </a:solidFill>
                <a:latin typeface="Segoe UI"/>
              </a:rPr>
              <a:t>DÉCISION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257800"/>
            <a:ext cx="10692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C1A14"/>
                </a:solidFill>
                <a:latin typeface="Segoe UI"/>
              </a:rPr>
              <a:t>Conséquence de pilotage : le taux d'énergie renouvelable est un mauvais indicateur de suivi pour la transition togolaise — il baissera mécaniquement quand les ménages passeront au GPL ou à l'électricité, c'est-à-dire quand la situation s'améliorera. Les indicateurs à suivre sont l'accès à la cuisson propre et la part des ménages sortis de la biomasse.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70">
                <a:solidFill>
                  <a:srgbClr val="5D6E64"/>
                </a:solidFill>
                <a:latin typeface="Segoe UI"/>
              </a:rPr>
              <a:t>INVENTAIRE DES ÉMISSIONS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50" b="1">
                <a:solidFill>
                  <a:srgbClr val="0C1A14"/>
                </a:solidFill>
                <a:latin typeface="Segoe UI"/>
              </a:rPr>
              <a:t>Le secteur énergie n'est marginal que si l'on ne regarde que le CO₂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437376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Défi 2 · Énergie, Climat &amp; Forêts au Togo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373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8 / 10</a:t>
            </a:r>
          </a:p>
        </p:txBody>
      </p:sp>
      <p:pic>
        <p:nvPicPr>
          <p:cNvPr id="7" name="Picture 6" descr="armoiries_t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16073" cy="310896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572768"/>
          <a:ext cx="68580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99248" y="1572768"/>
            <a:ext cx="3925519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54696" y="1709928"/>
            <a:ext cx="36146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LE SECTEUR ÉNERGIE, SELON L'UNITÉ DE 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1938528"/>
            <a:ext cx="361462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32418"/>
                </a:solidFill>
                <a:latin typeface="Segoe UI"/>
              </a:rPr>
              <a:t>6 → 27</a:t>
            </a:r>
            <a:r>
              <a:rPr sz="2600" b="1">
                <a:solidFill>
                  <a:srgbClr val="B32418"/>
                </a:solidFill>
                <a:latin typeface="Segoe UI"/>
              </a:rPr>
              <a:t>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2414016"/>
            <a:ext cx="361462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des émissions nationales : la même année, le même inventaire, deux classements différents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3236976"/>
            <a:ext cx="3925519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4696" y="3374136"/>
            <a:ext cx="36146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0C1A14"/>
                </a:solidFill>
                <a:latin typeface="Segoe UI"/>
              </a:rPr>
              <a:t>PART DE L'ÉNERGIE DANS LES GAZ LES PLUS RÉCHAUFFANTS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3602736"/>
            <a:ext cx="361462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32418"/>
                </a:solidFill>
                <a:latin typeface="Segoe UI"/>
              </a:rPr>
              <a:t>57</a:t>
            </a:r>
            <a:r>
              <a:rPr sz="2600" b="1">
                <a:solidFill>
                  <a:srgbClr val="B32418"/>
                </a:solidFill>
                <a:latin typeface="Segoe UI"/>
              </a:rPr>
              <a:t>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4078224"/>
            <a:ext cx="361462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du protoxyde d'azote et 23 % du méthane du pays — deux gaz de combustion incomplète de biomasse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92040"/>
            <a:ext cx="11057839" cy="1280160"/>
          </a:xfrm>
          <a:prstGeom prst="roundRect">
            <a:avLst>
              <a:gd name="adj" fmla="val 5000"/>
            </a:avLst>
          </a:prstGeom>
          <a:solidFill>
            <a:srgbClr val="E7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029200"/>
            <a:ext cx="106920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spc="60">
                <a:solidFill>
                  <a:srgbClr val="0F7A4A"/>
                </a:solidFill>
                <a:latin typeface="Segoe UI"/>
              </a:rPr>
              <a:t>CONSTAT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257800"/>
            <a:ext cx="10692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C1A14"/>
                </a:solidFill>
                <a:latin typeface="Segoe UI"/>
              </a:rPr>
              <a:t>L'inventaire publie des masses brutes, où une tonne de méthane pèse autant qu'une tonne de CO₂. Or le méthane réchauffe 28 fois plus et le protoxyde d'azote 265 fois plus. « L'énergie ne pèse que 6 % » est donc une lecture comptable, pas une lecture climatique — et ce que cette lecture masque, ce sont les foyers de cuisson.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70">
                <a:solidFill>
                  <a:srgbClr val="5D6E64"/>
                </a:solidFill>
                <a:latin typeface="Segoe UI"/>
              </a:rPr>
              <a:t>OÙ AGIR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50" b="1">
                <a:solidFill>
                  <a:srgbClr val="0C1A14"/>
                </a:solidFill>
                <a:latin typeface="Segoe UI"/>
              </a:rPr>
              <a:t>9 massifs restent prioritaires quelle que soit la pondération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437376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Défi 2 · Énergie, Climat &amp; Forêts au Togo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373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9 / 10</a:t>
            </a:r>
          </a:p>
        </p:txBody>
      </p:sp>
      <p:pic>
        <p:nvPicPr>
          <p:cNvPr id="7" name="Picture 6" descr="armoiries_t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16073" cy="310896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572768"/>
          <a:ext cx="6949440" cy="371246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90688" y="1609344"/>
            <a:ext cx="383407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24239"/>
                </a:solidFill>
                <a:latin typeface="Segoe UI"/>
              </a:rPr>
              <a:t>Sur les 53 forêts classées du territoire, 9 ne quittent jamais le top 10, quelle que soit la pondération testée entre enclavement, surface et stress thermique.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324239"/>
                </a:solidFill>
                <a:latin typeface="Segoe UI"/>
              </a:rPr>
              <a:t>Le classement de tête est donc un résultat des données, pas un choix d'analyste : ce sont de grands massifs enclavés, éloignés de tout pôle raccordé, donc soumis à la pression du bois-énergie.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324239"/>
                </a:solidFill>
                <a:latin typeface="Segoe UI"/>
              </a:rPr>
              <a:t>Éloignement médian d'un pôle urbain : 29 km.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90688" y="4114800"/>
            <a:ext cx="3834079" cy="1170432"/>
          </a:xfrm>
          <a:prstGeom prst="roundRect">
            <a:avLst>
              <a:gd name="adj" fmla="val 5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4251960"/>
            <a:ext cx="34683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spc="60">
                <a:solidFill>
                  <a:srgbClr val="B87407"/>
                </a:solidFill>
                <a:latin typeface="Segoe UI"/>
              </a:rPr>
              <a:t>DÉCISION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4480560"/>
            <a:ext cx="346831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C1A14"/>
                </a:solidFill>
                <a:latin typeface="Segoe UI"/>
              </a:rPr>
              <a:t>Ces massifs reçoivent le premier budget de protection. Les forêts dont l'intervalle de rang est large méritent une instruction complémentaire avant tout engagement.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70">
                <a:solidFill>
                  <a:srgbClr val="5D6E64"/>
                </a:solidFill>
                <a:latin typeface="Segoe UI"/>
              </a:rPr>
              <a:t>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50" b="1">
                <a:solidFill>
                  <a:srgbClr val="0C1A14"/>
                </a:solidFill>
                <a:latin typeface="Segoe UI"/>
              </a:rPr>
              <a:t>Trois leviers, dans cet ordre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437376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Défi 2 · Énergie, Climat &amp; Forêts au Togo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373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5D6E64"/>
                </a:solidFill>
                <a:latin typeface="Segoe UI"/>
              </a:rPr>
              <a:t>10 / 10</a:t>
            </a:r>
          </a:p>
        </p:txBody>
      </p:sp>
      <p:pic>
        <p:nvPicPr>
          <p:cNvPr id="7" name="Picture 6" descr="armoiries_t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16073" cy="3108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1572768"/>
            <a:ext cx="11057839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4708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32418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7556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C1A14"/>
                </a:solidFill>
                <a:latin typeface="Segoe UI"/>
              </a:rPr>
              <a:t>Cuisson propre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075688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D6E64"/>
                </a:solidFill>
                <a:latin typeface="Segoe UI"/>
              </a:rPr>
              <a:t>GPL subventionné en zone périurbaine, foyers améliorés certifiés en zone rurale enclavée.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73936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5D6E64"/>
                </a:solidFill>
                <a:latin typeface="Segoe UI"/>
              </a:rPr>
              <a:t>PORTÉE DIRECTE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93392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1A14"/>
                </a:solidFill>
                <a:latin typeface="Segoe UI"/>
              </a:rPr>
              <a:t>8,1 M de personnes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1773936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5D6E64"/>
                </a:solidFill>
                <a:latin typeface="Segoe UI"/>
              </a:rPr>
              <a:t>CIBLE 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993392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1A14"/>
                </a:solidFill>
                <a:latin typeface="Segoe UI"/>
              </a:rPr>
              <a:t>De 0,9 % à 15 % d'accès rural à une cuisson propre en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1773936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5D6E64"/>
                </a:solidFill>
                <a:latin typeface="Segoe UI"/>
              </a:rPr>
              <a:t>INDICATEUR DE SUIVI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1993392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1A14"/>
                </a:solidFill>
                <a:latin typeface="Segoe UI"/>
              </a:rPr>
              <a:t>EG.CFT.ACCS.RU.ZS — et non le taux d'énergie renouvelable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054096"/>
            <a:ext cx="11057839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32841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87407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323697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C1A14"/>
                </a:solidFill>
                <a:latin typeface="Segoe UI"/>
              </a:rPr>
              <a:t>Solaire villageois décentralisé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557016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D6E64"/>
                </a:solidFill>
                <a:latin typeface="Segoe UI"/>
              </a:rPr>
              <a:t>Mini-réseaux avec stockage pour les gros bourgs, kits domestiques pour l'habitat dispersé, dimensionnés sur les usages productifs.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255264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5D6E64"/>
                </a:solidFill>
                <a:latin typeface="Segoe UI"/>
              </a:rPr>
              <a:t>PORTÉE DIRECTE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474720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1A14"/>
                </a:solidFill>
                <a:latin typeface="Segoe UI"/>
              </a:rPr>
              <a:t>3,7 M de ruraux sans électricité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255264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5D6E64"/>
                </a:solidFill>
                <a:latin typeface="Segoe UI"/>
              </a:rPr>
              <a:t>CIBLE 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474720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1A14"/>
                </a:solidFill>
                <a:latin typeface="Segoe UI"/>
              </a:rPr>
              <a:t>Dépasser 65 700 raccordements ruraux par an — le seuil démographique — puis viser l'accès universel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3255264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5D6E64"/>
                </a:solidFill>
                <a:latin typeface="Segoe UI"/>
              </a:rPr>
              <a:t>INDICATEUR DE SUIVI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3474720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1A14"/>
                </a:solidFill>
                <a:latin typeface="Segoe UI"/>
              </a:rPr>
              <a:t>EG.ELC.ACCS.RU.ZS + un indicateur de disponibilité horaire, absent des données actuelles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35424"/>
            <a:ext cx="11057839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80974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7A4A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47183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C1A14"/>
                </a:solidFill>
                <a:latin typeface="Segoe UI"/>
              </a:rPr>
              <a:t>Protection ciblée des massifs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2728" y="503834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D6E64"/>
                </a:solidFill>
                <a:latin typeface="Segoe UI"/>
              </a:rPr>
              <a:t>Surveillance, régénération assistée et agroforesterie concentrées sur les massifs prioritaires plutôt que saupoudrées.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473659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5D6E64"/>
                </a:solidFill>
                <a:latin typeface="Segoe UI"/>
              </a:rPr>
              <a:t>PORTÉE DIRECTE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95604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1A14"/>
                </a:solidFill>
                <a:latin typeface="Segoe UI"/>
              </a:rPr>
              <a:t>9 massifs · 91 468 ha de forêts classées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473659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5D6E64"/>
                </a:solidFill>
                <a:latin typeface="Segoe UI"/>
              </a:rPr>
              <a:t>CIBLE 2030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95604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1A14"/>
                </a:solidFill>
                <a:latin typeface="Segoe UI"/>
              </a:rPr>
              <a:t>Perte nette nulle sur les massifs prioritaires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473659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spc="50">
                <a:solidFill>
                  <a:srgbClr val="5D6E64"/>
                </a:solidFill>
                <a:latin typeface="Segoe UI"/>
              </a:rPr>
              <a:t>INDICATEUR DE SUIVI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495604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0C1A14"/>
                </a:solidFill>
                <a:latin typeface="Segoe UI"/>
              </a:rPr>
              <a:t>AG.LND.FRST.K2 + un suivi surfacique par massif, à créer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D6E64"/>
                </a:solidFill>
                <a:latin typeface="Segoe UI"/>
              </a:rPr>
              <a:t>Aucun coût ni budget dans les six jeux de données : ces trois leviers fixent un ordre de priorité et des cibles physiques, pas un plan de financement.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