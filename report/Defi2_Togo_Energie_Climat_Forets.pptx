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Accès rural à l'électricité</c:v>
                </c:pt>
              </c:strCache>
            </c:strRef>
          </c:tx>
          <c:spPr>
            <a:ln w="30480">
              <a:solidFill>
                <a:srgbClr val="B87407"/>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Sheet1!$B$2:$B$26</c:f>
              <c:numCache>
                <c:formatCode>General</c:formatCode>
                <c:ptCount val="25"/>
                <c:pt idx="0">
                  <c:v>3.10279958670469</c:v>
                </c:pt>
                <c:pt idx="1">
                  <c:v>3.13197689466699</c:v>
                </c:pt>
                <c:pt idx="2">
                  <c:v>6.4</c:v>
                </c:pt>
                <c:pt idx="3">
                  <c:v>5.4</c:v>
                </c:pt>
                <c:pt idx="4">
                  <c:v>6.5</c:v>
                </c:pt>
                <c:pt idx="5">
                  <c:v>7.6</c:v>
                </c:pt>
                <c:pt idx="6">
                  <c:v>8.7</c:v>
                </c:pt>
                <c:pt idx="7">
                  <c:v>9.8</c:v>
                </c:pt>
                <c:pt idx="8">
                  <c:v>7.4</c:v>
                </c:pt>
                <c:pt idx="9">
                  <c:v>11.8</c:v>
                </c:pt>
                <c:pt idx="10">
                  <c:v>12.9</c:v>
                </c:pt>
                <c:pt idx="11">
                  <c:v>13.9</c:v>
                </c:pt>
                <c:pt idx="12">
                  <c:v>9.3</c:v>
                </c:pt>
                <c:pt idx="13">
                  <c:v>16.3</c:v>
                </c:pt>
                <c:pt idx="14">
                  <c:v>15.8</c:v>
                </c:pt>
                <c:pt idx="15">
                  <c:v>17.1</c:v>
                </c:pt>
                <c:pt idx="16">
                  <c:v>21.1</c:v>
                </c:pt>
                <c:pt idx="17">
                  <c:v>19.8</c:v>
                </c:pt>
                <c:pt idx="18">
                  <c:v>21.0</c:v>
                </c:pt>
                <c:pt idx="19">
                  <c:v>19.5</c:v>
                </c:pt>
                <c:pt idx="20">
                  <c:v>26.3</c:v>
                </c:pt>
                <c:pt idx="21">
                  <c:v>23.9</c:v>
                </c:pt>
                <c:pt idx="22">
                  <c:v>24.3</c:v>
                </c:pt>
                <c:pt idx="23">
                  <c:v>24.7</c:v>
                </c:pt>
                <c:pt idx="24">
                  <c:v>25.0</c:v>
                </c:pt>
              </c:numCache>
            </c:numRef>
          </c:val>
          <c:smooth val="0"/>
        </c:ser>
        <c:ser>
          <c:idx val="1"/>
          <c:order val="1"/>
          <c:tx>
            <c:strRef>
              <c:f>Sheet1!$C$1</c:f>
              <c:strCache>
                <c:ptCount val="1"/>
                <c:pt idx="0">
                  <c:v>Accès rural à une cuisson propre</c:v>
                </c:pt>
              </c:strCache>
            </c:strRef>
          </c:tx>
          <c:spPr>
            <a:ln w="30480">
              <a:solidFill>
                <a:srgbClr val="B32418"/>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Sheet1!$C$2:$C$26</c:f>
              <c:numCache>
                <c:formatCode>General</c:formatCode>
                <c:ptCount val="25"/>
                <c:pt idx="2">
                  <c:v>0.0</c:v>
                </c:pt>
                <c:pt idx="3">
                  <c:v>0.1</c:v>
                </c:pt>
                <c:pt idx="4">
                  <c:v>0.1</c:v>
                </c:pt>
                <c:pt idx="5">
                  <c:v>0.1</c:v>
                </c:pt>
                <c:pt idx="6">
                  <c:v>0.2</c:v>
                </c:pt>
                <c:pt idx="7">
                  <c:v>0.2</c:v>
                </c:pt>
                <c:pt idx="8">
                  <c:v>0.3</c:v>
                </c:pt>
                <c:pt idx="9">
                  <c:v>0.3</c:v>
                </c:pt>
                <c:pt idx="10">
                  <c:v>0.4</c:v>
                </c:pt>
                <c:pt idx="11">
                  <c:v>0.4</c:v>
                </c:pt>
                <c:pt idx="12">
                  <c:v>0.5</c:v>
                </c:pt>
                <c:pt idx="13">
                  <c:v>0.6</c:v>
                </c:pt>
                <c:pt idx="14">
                  <c:v>0.6</c:v>
                </c:pt>
                <c:pt idx="15">
                  <c:v>0.7</c:v>
                </c:pt>
                <c:pt idx="16">
                  <c:v>0.7</c:v>
                </c:pt>
                <c:pt idx="17">
                  <c:v>0.7</c:v>
                </c:pt>
                <c:pt idx="18">
                  <c:v>0.8</c:v>
                </c:pt>
                <c:pt idx="19">
                  <c:v>0.8</c:v>
                </c:pt>
                <c:pt idx="20">
                  <c:v>0.8</c:v>
                </c:pt>
                <c:pt idx="21">
                  <c:v>0.9</c:v>
                </c:pt>
                <c:pt idx="22">
                  <c:v>0.8</c:v>
                </c:pt>
                <c:pt idx="23">
                  <c:v>0.9</c:v>
                </c:pt>
                <c:pt idx="24">
                  <c:v>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a:solidFill>
              <a:srgbClr val="B6C4BC"/>
            </a:solidFill>
          </a:ln>
        </c:spPr>
        <c:crossAx val="2140495176"/>
        <c:crosses val="autoZero"/>
        <c:auto val="1"/>
        <c:lblAlgn val="ctr"/>
        <c:lblOffset val="100"/>
        <c:noMultiLvlLbl val="0"/>
      </c:catAx>
      <c:valAx>
        <c:axId val="2140495176"/>
        <c:scaling>
          <c:max val="40.0"/>
        </c:scaling>
        <c:delete val="0"/>
        <c:axPos val="l"/>
        <c:majorGridlines>
          <c:spPr>
            <a:ln w="6350">
              <a:solidFill>
                <a:srgbClr val="D5DED8"/>
              </a:solidFill>
            </a:ln>
          </c:spPr>
        </c:majorGridlines>
        <c:numFmt formatCode="0&quot;%&quot;" sourceLinked="0"/>
        <c:majorTickMark val="none"/>
        <c:minorTickMark val="none"/>
        <c:tickLblPos val="nextTo"/>
        <c:spPr>
          <a:ln>
            <a:noFill/>
          </a:ln>
        </c:spPr>
        <c:crossAx val="2118791784"/>
        <c:crosses val="autoZero"/>
      </c:valAx>
    </c:plotArea>
    <c:legend>
      <c:legendPos val="t"/>
      <c:layout/>
      <c:overlay val="0"/>
      <c:txPr>
        <a:bodyPr/>
        <a:lstStyle/>
        <a:p>
          <a:pPr>
            <a:defRPr sz="950"/>
          </a:pPr>
        </a:p>
      </c:txPr>
    </c:legend>
    <c:plotVisOnly val="1"/>
    <c:dispBlanksAs val="gap"/>
    <c:showDLblsOverMax val="0"/>
  </c:chart>
  <c:txPr>
    <a:bodyPr/>
    <a:lstStyle/>
    <a:p>
      <a:pPr>
        <a:defRPr sz="950">
          <a:solidFill>
            <a:srgbClr val="32423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Couvert forestier (% du territoire)</c:v>
                </c:pt>
              </c:strCache>
            </c:strRef>
          </c:tx>
          <c:spPr>
            <a:ln w="30480">
              <a:solidFill>
                <a:srgbClr val="0F7A4A"/>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Sheet1!$B$2:$B$26</c:f>
              <c:numCache>
                <c:formatCode>General</c:formatCode>
                <c:ptCount val="25"/>
                <c:pt idx="0">
                  <c:v>23.6643353557639</c:v>
                </c:pt>
                <c:pt idx="1">
                  <c:v>23.4929876815591</c:v>
                </c:pt>
                <c:pt idx="2">
                  <c:v>23.3216400073543</c:v>
                </c:pt>
                <c:pt idx="3">
                  <c:v>23.2672292700864</c:v>
                </c:pt>
                <c:pt idx="4">
                  <c:v>23.2128185328185</c:v>
                </c:pt>
                <c:pt idx="5">
                  <c:v>23.1584077955507</c:v>
                </c:pt>
                <c:pt idx="6">
                  <c:v>23.1039970582828</c:v>
                </c:pt>
                <c:pt idx="7">
                  <c:v>23.0495863210149</c:v>
                </c:pt>
                <c:pt idx="8">
                  <c:v>22.995175583747</c:v>
                </c:pt>
                <c:pt idx="9">
                  <c:v>22.9407648464791</c:v>
                </c:pt>
                <c:pt idx="10">
                  <c:v>22.8863541092113</c:v>
                </c:pt>
                <c:pt idx="11">
                  <c:v>22.8319433719434</c:v>
                </c:pt>
                <c:pt idx="12">
                  <c:v>22.7775326346755</c:v>
                </c:pt>
                <c:pt idx="13">
                  <c:v>22.723110865968</c:v>
                </c:pt>
                <c:pt idx="14">
                  <c:v>22.6686890972605</c:v>
                </c:pt>
                <c:pt idx="15">
                  <c:v>22.614267328553</c:v>
                </c:pt>
                <c:pt idx="16">
                  <c:v>22.5598455598456</c:v>
                </c:pt>
                <c:pt idx="17">
                  <c:v>22.5054237911381</c:v>
                </c:pt>
                <c:pt idx="18">
                  <c:v>22.4510020224306</c:v>
                </c:pt>
                <c:pt idx="19">
                  <c:v>22.3965802537231</c:v>
                </c:pt>
                <c:pt idx="20">
                  <c:v>22.3421584850156</c:v>
                </c:pt>
                <c:pt idx="21">
                  <c:v>22.2877367163081</c:v>
                </c:pt>
                <c:pt idx="22">
                  <c:v>22.2333149476007</c:v>
                </c:pt>
                <c:pt idx="23">
                  <c:v>22.1788931788932</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a:solidFill>
              <a:srgbClr val="B6C4BC"/>
            </a:solidFill>
          </a:ln>
        </c:spPr>
        <c:crossAx val="2140495176"/>
        <c:crosses val="autoZero"/>
        <c:auto val="1"/>
        <c:lblAlgn val="ctr"/>
        <c:lblOffset val="100"/>
        <c:noMultiLvlLbl val="0"/>
      </c:catAx>
      <c:valAx>
        <c:axId val="2140495176"/>
        <c:scaling/>
        <c:delete val="0"/>
        <c:axPos val="l"/>
        <c:majorGridlines>
          <c:spPr>
            <a:ln w="6350">
              <a:solidFill>
                <a:srgbClr val="D5DED8"/>
              </a:solidFill>
            </a:ln>
          </c:spPr>
        </c:majorGridlines>
        <c:numFmt formatCode="0.0&quot;%&quot;" sourceLinked="0"/>
        <c:majorTickMark val="none"/>
        <c:minorTickMark val="none"/>
        <c:tickLblPos val="nextTo"/>
        <c:spPr>
          <a:ln>
            <a:noFill/>
          </a:ln>
        </c:spPr>
        <c:crossAx val="2118791784"/>
        <c:crosses val="autoZero"/>
      </c:valAx>
    </c:plotArea>
    <c:legend>
      <c:legendPos val="t"/>
      <c:layout/>
      <c:overlay val="0"/>
      <c:txPr>
        <a:bodyPr/>
        <a:lstStyle/>
        <a:p>
          <a:pPr>
            <a:defRPr sz="950"/>
          </a:pPr>
        </a:p>
      </c:txPr>
    </c:legend>
    <c:plotVisOnly val="1"/>
    <c:dispBlanksAs val="gap"/>
    <c:showDLblsOverMax val="0"/>
  </c:chart>
  <c:txPr>
    <a:bodyPr/>
    <a:lstStyle/>
    <a:p>
      <a:pPr>
        <a:defRPr sz="950">
          <a:solidFill>
            <a:srgbClr val="32423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Urbain</c:v>
                </c:pt>
              </c:strCache>
            </c:strRef>
          </c:tx>
          <c:spPr>
            <a:ln w="30480">
              <a:solidFill>
                <a:srgbClr val="125E6B"/>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Sheet1!$B$2:$B$26</c:f>
              <c:numCache>
                <c:formatCode>General</c:formatCode>
                <c:ptCount val="25"/>
                <c:pt idx="0">
                  <c:v>41.2</c:v>
                </c:pt>
                <c:pt idx="1">
                  <c:v>42.9995880126953</c:v>
                </c:pt>
                <c:pt idx="2">
                  <c:v>38.5</c:v>
                </c:pt>
                <c:pt idx="3">
                  <c:v>47.9</c:v>
                </c:pt>
                <c:pt idx="4">
                  <c:v>50.2</c:v>
                </c:pt>
                <c:pt idx="5">
                  <c:v>52.6</c:v>
                </c:pt>
                <c:pt idx="6">
                  <c:v>55.0</c:v>
                </c:pt>
                <c:pt idx="7">
                  <c:v>57.4</c:v>
                </c:pt>
                <c:pt idx="8">
                  <c:v>64.9</c:v>
                </c:pt>
                <c:pt idx="9">
                  <c:v>62.2</c:v>
                </c:pt>
                <c:pt idx="10">
                  <c:v>64.7</c:v>
                </c:pt>
                <c:pt idx="11">
                  <c:v>67.2</c:v>
                </c:pt>
                <c:pt idx="12">
                  <c:v>66.5</c:v>
                </c:pt>
                <c:pt idx="13">
                  <c:v>77.9</c:v>
                </c:pt>
                <c:pt idx="14">
                  <c:v>76.3</c:v>
                </c:pt>
                <c:pt idx="15">
                  <c:v>78.1</c:v>
                </c:pt>
                <c:pt idx="16">
                  <c:v>83.2</c:v>
                </c:pt>
                <c:pt idx="17">
                  <c:v>82.0</c:v>
                </c:pt>
                <c:pt idx="18">
                  <c:v>84.4</c:v>
                </c:pt>
                <c:pt idx="19">
                  <c:v>88.8</c:v>
                </c:pt>
                <c:pt idx="20">
                  <c:v>83.1</c:v>
                </c:pt>
                <c:pt idx="21">
                  <c:v>91.6</c:v>
                </c:pt>
                <c:pt idx="22">
                  <c:v>94.0</c:v>
                </c:pt>
                <c:pt idx="23">
                  <c:v>96.3</c:v>
                </c:pt>
                <c:pt idx="24">
                  <c:v>96.5</c:v>
                </c:pt>
              </c:numCache>
            </c:numRef>
          </c:val>
          <c:smooth val="0"/>
        </c:ser>
        <c:ser>
          <c:idx val="1"/>
          <c:order val="1"/>
          <c:tx>
            <c:strRef>
              <c:f>Sheet1!$C$1</c:f>
              <c:strCache>
                <c:ptCount val="1"/>
                <c:pt idx="0">
                  <c:v>Rural</c:v>
                </c:pt>
              </c:strCache>
            </c:strRef>
          </c:tx>
          <c:spPr>
            <a:ln w="30480">
              <a:solidFill>
                <a:srgbClr val="B87407"/>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Sheet1!$C$2:$C$26</c:f>
              <c:numCache>
                <c:formatCode>General</c:formatCode>
                <c:ptCount val="25"/>
                <c:pt idx="0">
                  <c:v>3.10279958670469</c:v>
                </c:pt>
                <c:pt idx="1">
                  <c:v>3.13197689466699</c:v>
                </c:pt>
                <c:pt idx="2">
                  <c:v>6.4</c:v>
                </c:pt>
                <c:pt idx="3">
                  <c:v>5.4</c:v>
                </c:pt>
                <c:pt idx="4">
                  <c:v>6.5</c:v>
                </c:pt>
                <c:pt idx="5">
                  <c:v>7.6</c:v>
                </c:pt>
                <c:pt idx="6">
                  <c:v>8.7</c:v>
                </c:pt>
                <c:pt idx="7">
                  <c:v>9.8</c:v>
                </c:pt>
                <c:pt idx="8">
                  <c:v>7.4</c:v>
                </c:pt>
                <c:pt idx="9">
                  <c:v>11.8</c:v>
                </c:pt>
                <c:pt idx="10">
                  <c:v>12.9</c:v>
                </c:pt>
                <c:pt idx="11">
                  <c:v>13.9</c:v>
                </c:pt>
                <c:pt idx="12">
                  <c:v>9.3</c:v>
                </c:pt>
                <c:pt idx="13">
                  <c:v>16.3</c:v>
                </c:pt>
                <c:pt idx="14">
                  <c:v>15.8</c:v>
                </c:pt>
                <c:pt idx="15">
                  <c:v>17.1</c:v>
                </c:pt>
                <c:pt idx="16">
                  <c:v>21.1</c:v>
                </c:pt>
                <c:pt idx="17">
                  <c:v>19.8</c:v>
                </c:pt>
                <c:pt idx="18">
                  <c:v>21.0</c:v>
                </c:pt>
                <c:pt idx="19">
                  <c:v>19.5</c:v>
                </c:pt>
                <c:pt idx="20">
                  <c:v>26.3</c:v>
                </c:pt>
                <c:pt idx="21">
                  <c:v>23.9</c:v>
                </c:pt>
                <c:pt idx="22">
                  <c:v>24.3</c:v>
                </c:pt>
                <c:pt idx="23">
                  <c:v>24.7</c:v>
                </c:pt>
                <c:pt idx="24">
                  <c:v>25.0</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a:solidFill>
              <a:srgbClr val="B6C4BC"/>
            </a:solidFill>
          </a:ln>
        </c:spPr>
        <c:crossAx val="2140495176"/>
        <c:crosses val="autoZero"/>
        <c:auto val="1"/>
        <c:lblAlgn val="ctr"/>
        <c:lblOffset val="100"/>
        <c:noMultiLvlLbl val="0"/>
      </c:catAx>
      <c:valAx>
        <c:axId val="2140495176"/>
        <c:scaling>
          <c:max val="100.0"/>
        </c:scaling>
        <c:delete val="0"/>
        <c:axPos val="l"/>
        <c:majorGridlines>
          <c:spPr>
            <a:ln w="6350">
              <a:solidFill>
                <a:srgbClr val="D5DED8"/>
              </a:solidFill>
            </a:ln>
          </c:spPr>
        </c:majorGridlines>
        <c:numFmt formatCode="0&quot;%&quot;" sourceLinked="0"/>
        <c:majorTickMark val="none"/>
        <c:minorTickMark val="none"/>
        <c:tickLblPos val="nextTo"/>
        <c:spPr>
          <a:ln>
            <a:noFill/>
          </a:ln>
        </c:spPr>
        <c:crossAx val="2118791784"/>
        <c:crosses val="autoZero"/>
      </c:valAx>
    </c:plotArea>
    <c:legend>
      <c:legendPos val="t"/>
      <c:layout/>
      <c:overlay val="0"/>
      <c:txPr>
        <a:bodyPr/>
        <a:lstStyle/>
        <a:p>
          <a:pPr>
            <a:defRPr sz="950"/>
          </a:pPr>
        </a:p>
      </c:txPr>
    </c:legend>
    <c:plotVisOnly val="1"/>
    <c:dispBlanksAs val="gap"/>
    <c:showDLblsOverMax val="0"/>
  </c:chart>
  <c:txPr>
    <a:bodyPr/>
    <a:lstStyle/>
    <a:p>
      <a:pPr>
        <a:defRPr sz="950">
          <a:solidFill>
            <a:srgbClr val="324239"/>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2014</c:v>
                </c:pt>
              </c:strCache>
            </c:strRef>
          </c:tx>
          <c:spPr>
            <a:solidFill>
              <a:srgbClr val="85938B"/>
            </a:solidFill>
            <a:ln>
              <a:noFill/>
            </a:ln>
          </c:spPr>
          <c:cat>
            <c:strRef>
              <c:f>Sheet1!$A$2:$A$5</c:f>
              <c:strCache>
                <c:ptCount val="4"/>
                <c:pt idx="0">
                  <c:v>Bois de chauffe</c:v>
                </c:pt>
                <c:pt idx="1">
                  <c:v>Charbon de bois</c:v>
                </c:pt>
                <c:pt idx="2">
                  <c:v>GPL / gaz</c:v>
                </c:pt>
                <c:pt idx="3">
                  <c:v>Électricité</c:v>
                </c:pt>
              </c:strCache>
            </c:strRef>
          </c:cat>
          <c:val>
            <c:numRef>
              <c:f>Sheet1!$B$2:$B$5</c:f>
              <c:numCache>
                <c:formatCode>General</c:formatCode>
                <c:ptCount val="4"/>
                <c:pt idx="0">
                  <c:v>48.2</c:v>
                </c:pt>
                <c:pt idx="1">
                  <c:v>42.1</c:v>
                </c:pt>
                <c:pt idx="2">
                  <c:v>6.6</c:v>
                </c:pt>
                <c:pt idx="3">
                  <c:v>0.0</c:v>
                </c:pt>
              </c:numCache>
            </c:numRef>
          </c:val>
        </c:ser>
        <c:ser>
          <c:idx val="1"/>
          <c:order val="1"/>
          <c:tx>
            <c:strRef>
              <c:f>Sheet1!$C$1</c:f>
              <c:strCache>
                <c:ptCount val="1"/>
                <c:pt idx="0">
                  <c:v>2017</c:v>
                </c:pt>
              </c:strCache>
            </c:strRef>
          </c:tx>
          <c:spPr>
            <a:solidFill>
              <a:srgbClr val="B32418"/>
            </a:solidFill>
            <a:ln>
              <a:noFill/>
            </a:ln>
          </c:spPr>
          <c:cat>
            <c:strRef>
              <c:f>Sheet1!$A$2:$A$5</c:f>
              <c:strCache>
                <c:ptCount val="4"/>
                <c:pt idx="0">
                  <c:v>Bois de chauffe</c:v>
                </c:pt>
                <c:pt idx="1">
                  <c:v>Charbon de bois</c:v>
                </c:pt>
                <c:pt idx="2">
                  <c:v>GPL / gaz</c:v>
                </c:pt>
                <c:pt idx="3">
                  <c:v>Électricité</c:v>
                </c:pt>
              </c:strCache>
            </c:strRef>
          </c:cat>
          <c:val>
            <c:numRef>
              <c:f>Sheet1!$C$2:$C$5</c:f>
              <c:numCache>
                <c:formatCode>General</c:formatCode>
                <c:ptCount val="4"/>
                <c:pt idx="0">
                  <c:v>51.8</c:v>
                </c:pt>
                <c:pt idx="1">
                  <c:v>37.6</c:v>
                </c:pt>
                <c:pt idx="2">
                  <c:v>8.8</c:v>
                </c:pt>
                <c:pt idx="3">
                  <c:v>0.3</c:v>
                </c:pt>
              </c:numCache>
            </c:numRef>
          </c:val>
        </c:ser>
        <c:axId val="-2068027336"/>
        <c:axId val="-2113994440"/>
      </c:barChart>
      <c:catAx>
        <c:axId val="-2068027336"/>
        <c:scaling>
          <c:orientation val="minMax"/>
        </c:scaling>
        <c:delete val="0"/>
        <c:axPos val="l"/>
        <c:majorTickMark val="none"/>
        <c:minorTickMark val="none"/>
        <c:tickLblPos val="nextTo"/>
        <c:spPr>
          <a:ln>
            <a:solidFill>
              <a:srgbClr val="B6C4BC"/>
            </a:solidFill>
          </a:ln>
        </c:spPr>
        <c:crossAx val="-2113994440"/>
        <c:crosses val="autoZero"/>
        <c:auto val="1"/>
        <c:lblAlgn val="ctr"/>
        <c:lblOffset val="100"/>
        <c:noMultiLvlLbl val="0"/>
      </c:catAx>
      <c:valAx>
        <c:axId val="-2113994440"/>
        <c:scaling>
          <c:max val="60.0"/>
        </c:scaling>
        <c:delete val="0"/>
        <c:axPos val="b"/>
        <c:majorGridlines>
          <c:spPr>
            <a:ln w="6350">
              <a:solidFill>
                <a:srgbClr val="D5DED8"/>
              </a:solidFill>
            </a:ln>
          </c:spPr>
        </c:majorGridlines>
        <c:numFmt formatCode="0&quot;%&quot;" sourceLinked="0"/>
        <c:majorTickMark val="none"/>
        <c:minorTickMark val="none"/>
        <c:tickLblPos val="nextTo"/>
        <c:spPr>
          <a:ln>
            <a:noFill/>
          </a:ln>
        </c:spPr>
        <c:crossAx val="-2068027336"/>
        <c:crosses val="autoZero"/>
      </c:valAx>
    </c:plotArea>
    <c:legend>
      <c:legendPos val="t"/>
      <c:overlay val="0"/>
      <c:txPr>
        <a:bodyPr/>
        <a:lstStyle/>
        <a:p>
          <a:pPr>
            <a:defRPr sz="950"/>
          </a:pPr>
        </a:p>
      </c:txPr>
    </c:legend>
    <c:dispBlanksAs val="gap"/>
  </c:chart>
  <c:txPr>
    <a:bodyPr/>
    <a:lstStyle/>
    <a:p>
      <a:pPr>
        <a:defRPr sz="950">
          <a:solidFill>
            <a:srgbClr val="324239"/>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Part « renouvelable » de l'énergie finale</c:v>
                </c:pt>
              </c:strCache>
            </c:strRef>
          </c:tx>
          <c:spPr>
            <a:ln w="30480">
              <a:solidFill>
                <a:srgbClr val="0F7A4A"/>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Sheet1!$B$2:$B$26</c:f>
              <c:numCache>
                <c:formatCode>General</c:formatCode>
                <c:ptCount val="25"/>
                <c:pt idx="0">
                  <c:v>77.8</c:v>
                </c:pt>
                <c:pt idx="1">
                  <c:v>73.1</c:v>
                </c:pt>
                <c:pt idx="2">
                  <c:v>77.1</c:v>
                </c:pt>
                <c:pt idx="3">
                  <c:v>82.0</c:v>
                </c:pt>
                <c:pt idx="4">
                  <c:v>78.7</c:v>
                </c:pt>
                <c:pt idx="5">
                  <c:v>74.8</c:v>
                </c:pt>
                <c:pt idx="6">
                  <c:v>76.1</c:v>
                </c:pt>
                <c:pt idx="7">
                  <c:v>77.2</c:v>
                </c:pt>
                <c:pt idx="8">
                  <c:v>79.7</c:v>
                </c:pt>
                <c:pt idx="9">
                  <c:v>79.9</c:v>
                </c:pt>
                <c:pt idx="10">
                  <c:v>76.5</c:v>
                </c:pt>
                <c:pt idx="11">
                  <c:v>63.4</c:v>
                </c:pt>
                <c:pt idx="12">
                  <c:v>65.8</c:v>
                </c:pt>
                <c:pt idx="13">
                  <c:v>69.1</c:v>
                </c:pt>
                <c:pt idx="14">
                  <c:v>72.7</c:v>
                </c:pt>
                <c:pt idx="15">
                  <c:v>76.2</c:v>
                </c:pt>
                <c:pt idx="16">
                  <c:v>81.4</c:v>
                </c:pt>
                <c:pt idx="17">
                  <c:v>81.0</c:v>
                </c:pt>
                <c:pt idx="18">
                  <c:v>80.7</c:v>
                </c:pt>
                <c:pt idx="19">
                  <c:v>78.4</c:v>
                </c:pt>
                <c:pt idx="20">
                  <c:v>76.7</c:v>
                </c:pt>
                <c:pt idx="21">
                  <c:v>78.6</c:v>
                </c:pt>
                <c:pt idx="22">
                  <c:v>76.2</c:v>
                </c:pt>
                <c:pt idx="23">
                  <c:v>75.1</c:v>
                </c:pt>
              </c:numCache>
            </c:numRef>
          </c:val>
          <c:smooth val="0"/>
        </c:ser>
        <c:ser>
          <c:idx val="1"/>
          <c:order val="1"/>
          <c:tx>
            <c:strRef>
              <c:f>Sheet1!$C$1</c:f>
              <c:strCache>
                <c:ptCount val="1"/>
                <c:pt idx="0">
                  <c:v>Ménages ayant accès à une cuisson propre</c:v>
                </c:pt>
              </c:strCache>
            </c:strRef>
          </c:tx>
          <c:spPr>
            <a:ln w="30480">
              <a:solidFill>
                <a:srgbClr val="B32418"/>
              </a:solidFill>
            </a:ln>
          </c:spPr>
          <c:marker>
            <c:symbol val="none"/>
          </c:marker>
          <c:cat>
            <c:strRef>
              <c:f>Sheet1!$A$2:$A$26</c:f>
              <c:strCache>
                <c:ptCount val="25"/>
                <c:pt idx="0">
                  <c:v/>
                </c:pt>
                <c:pt idx="1">
                  <c:v/>
                </c:pt>
                <c:pt idx="2">
                  <c:v>2000</c:v>
                </c:pt>
                <c:pt idx="3">
                  <c:v/>
                </c:pt>
                <c:pt idx="4">
                  <c:v/>
                </c:pt>
                <c:pt idx="5">
                  <c:v/>
                </c:pt>
                <c:pt idx="6">
                  <c:v/>
                </c:pt>
                <c:pt idx="7">
                  <c:v>2005</c:v>
                </c:pt>
                <c:pt idx="8">
                  <c:v/>
                </c:pt>
                <c:pt idx="9">
                  <c:v/>
                </c:pt>
                <c:pt idx="10">
                  <c:v/>
                </c:pt>
                <c:pt idx="11">
                  <c:v/>
                </c:pt>
                <c:pt idx="12">
                  <c:v>2010</c:v>
                </c:pt>
                <c:pt idx="13">
                  <c:v/>
                </c:pt>
                <c:pt idx="14">
                  <c:v/>
                </c:pt>
                <c:pt idx="15">
                  <c:v/>
                </c:pt>
                <c:pt idx="16">
                  <c:v/>
                </c:pt>
                <c:pt idx="17">
                  <c:v>2015</c:v>
                </c:pt>
                <c:pt idx="18">
                  <c:v/>
                </c:pt>
                <c:pt idx="19">
                  <c:v/>
                </c:pt>
                <c:pt idx="20">
                  <c:v/>
                </c:pt>
                <c:pt idx="21">
                  <c:v/>
                </c:pt>
                <c:pt idx="22">
                  <c:v>2020</c:v>
                </c:pt>
                <c:pt idx="23">
                  <c:v/>
                </c:pt>
                <c:pt idx="24">
                  <c:v/>
                </c:pt>
              </c:strCache>
            </c:strRef>
          </c:cat>
          <c:val>
            <c:numRef>
              <c:f>Sheet1!$C$2:$C$26</c:f>
              <c:numCache>
                <c:formatCode>General</c:formatCode>
                <c:ptCount val="25"/>
                <c:pt idx="2">
                  <c:v>0.3</c:v>
                </c:pt>
                <c:pt idx="3">
                  <c:v>0.4</c:v>
                </c:pt>
                <c:pt idx="4">
                  <c:v>0.5</c:v>
                </c:pt>
                <c:pt idx="5">
                  <c:v>0.7</c:v>
                </c:pt>
                <c:pt idx="6">
                  <c:v>0.9</c:v>
                </c:pt>
                <c:pt idx="7">
                  <c:v>1.1</c:v>
                </c:pt>
                <c:pt idx="8">
                  <c:v>1.5</c:v>
                </c:pt>
                <c:pt idx="9">
                  <c:v>1.8</c:v>
                </c:pt>
                <c:pt idx="10">
                  <c:v>2.3</c:v>
                </c:pt>
                <c:pt idx="11">
                  <c:v>2.8</c:v>
                </c:pt>
                <c:pt idx="12">
                  <c:v>3.3</c:v>
                </c:pt>
                <c:pt idx="13">
                  <c:v>3.9</c:v>
                </c:pt>
                <c:pt idx="14">
                  <c:v>4.5</c:v>
                </c:pt>
                <c:pt idx="15">
                  <c:v>5.3</c:v>
                </c:pt>
                <c:pt idx="16">
                  <c:v>6.0</c:v>
                </c:pt>
                <c:pt idx="17">
                  <c:v>6.7</c:v>
                </c:pt>
                <c:pt idx="18">
                  <c:v>7.6</c:v>
                </c:pt>
                <c:pt idx="19">
                  <c:v>8.1</c:v>
                </c:pt>
                <c:pt idx="20">
                  <c:v>9.0</c:v>
                </c:pt>
                <c:pt idx="21">
                  <c:v>9.6</c:v>
                </c:pt>
                <c:pt idx="22">
                  <c:v>10.4</c:v>
                </c:pt>
                <c:pt idx="23">
                  <c:v>11.0</c:v>
                </c:pt>
                <c:pt idx="24">
                  <c:v>11.9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a:solidFill>
              <a:srgbClr val="B6C4BC"/>
            </a:solidFill>
          </a:ln>
        </c:spPr>
        <c:crossAx val="2140495176"/>
        <c:crosses val="autoZero"/>
        <c:auto val="1"/>
        <c:lblAlgn val="ctr"/>
        <c:lblOffset val="100"/>
        <c:noMultiLvlLbl val="0"/>
      </c:catAx>
      <c:valAx>
        <c:axId val="2140495176"/>
        <c:scaling>
          <c:max val="90.0"/>
        </c:scaling>
        <c:delete val="0"/>
        <c:axPos val="l"/>
        <c:majorGridlines>
          <c:spPr>
            <a:ln w="6350">
              <a:solidFill>
                <a:srgbClr val="D5DED8"/>
              </a:solidFill>
            </a:ln>
          </c:spPr>
        </c:majorGridlines>
        <c:numFmt formatCode="0&quot;%&quot;" sourceLinked="0"/>
        <c:majorTickMark val="none"/>
        <c:minorTickMark val="none"/>
        <c:tickLblPos val="nextTo"/>
        <c:spPr>
          <a:ln>
            <a:noFill/>
          </a:ln>
        </c:spPr>
        <c:crossAx val="2118791784"/>
        <c:crosses val="autoZero"/>
      </c:valAx>
    </c:plotArea>
    <c:legend>
      <c:legendPos val="t"/>
      <c:layout/>
      <c:overlay val="0"/>
      <c:txPr>
        <a:bodyPr/>
        <a:lstStyle/>
        <a:p>
          <a:pPr>
            <a:defRPr sz="950"/>
          </a:pPr>
        </a:p>
      </c:txPr>
    </c:legend>
    <c:plotVisOnly val="1"/>
    <c:dispBlanksAs val="gap"/>
    <c:showDLblsOverMax val="0"/>
  </c:chart>
  <c:txPr>
    <a:bodyPr/>
    <a:lstStyle/>
    <a:p>
      <a:pPr>
        <a:defRPr sz="950">
          <a:solidFill>
            <a:srgbClr val="324239"/>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Masse brute (Gg, tel que publié)</c:v>
                </c:pt>
              </c:strCache>
            </c:strRef>
          </c:tx>
          <c:spPr>
            <a:solidFill>
              <a:srgbClr val="85938B"/>
            </a:solidFill>
            <a:ln>
              <a:noFill/>
            </a:ln>
          </c:spPr>
          <c:cat>
            <c:strRef>
              <c:f>Sheet1!$A$2:$A$5</c:f>
              <c:strCache>
                <c:ptCount val="4"/>
                <c:pt idx="0">
                  <c:v>Agriculture &amp; forêts (AFAT)</c:v>
                </c:pt>
                <c:pt idx="1">
                  <c:v>Énergie</c:v>
                </c:pt>
                <c:pt idx="2">
                  <c:v>Industrie (PIUP)</c:v>
                </c:pt>
                <c:pt idx="3">
                  <c:v>Déchets</c:v>
                </c:pt>
              </c:strCache>
            </c:strRef>
          </c:cat>
          <c:val>
            <c:numRef>
              <c:f>Sheet1!$B$2:$B$5</c:f>
              <c:numCache>
                <c:formatCode>General</c:formatCode>
                <c:ptCount val="4"/>
                <c:pt idx="0">
                  <c:v>87.7</c:v>
                </c:pt>
                <c:pt idx="1">
                  <c:v>6.2</c:v>
                </c:pt>
                <c:pt idx="2">
                  <c:v>6.1</c:v>
                </c:pt>
                <c:pt idx="3">
                  <c:v>0.0</c:v>
                </c:pt>
              </c:numCache>
            </c:numRef>
          </c:val>
        </c:ser>
        <c:ser>
          <c:idx val="1"/>
          <c:order val="1"/>
          <c:tx>
            <c:strRef>
              <c:f>Sheet1!$C$1</c:f>
              <c:strCache>
                <c:ptCount val="1"/>
                <c:pt idx="0">
                  <c:v>Équivalent CO₂ (PRG 100 ans)</c:v>
                </c:pt>
              </c:strCache>
            </c:strRef>
          </c:tx>
          <c:spPr>
            <a:solidFill>
              <a:srgbClr val="B32418"/>
            </a:solidFill>
            <a:ln>
              <a:noFill/>
            </a:ln>
          </c:spPr>
          <c:cat>
            <c:strRef>
              <c:f>Sheet1!$A$2:$A$5</c:f>
              <c:strCache>
                <c:ptCount val="4"/>
                <c:pt idx="0">
                  <c:v>Agriculture &amp; forêts (AFAT)</c:v>
                </c:pt>
                <c:pt idx="1">
                  <c:v>Énergie</c:v>
                </c:pt>
                <c:pt idx="2">
                  <c:v>Industrie (PIUP)</c:v>
                </c:pt>
                <c:pt idx="3">
                  <c:v>Déchets</c:v>
                </c:pt>
              </c:strCache>
            </c:strRef>
          </c:cat>
          <c:val>
            <c:numRef>
              <c:f>Sheet1!$C$2:$C$5</c:f>
              <c:numCache>
                <c:formatCode>General</c:formatCode>
                <c:ptCount val="4"/>
                <c:pt idx="0">
                  <c:v>41.8</c:v>
                </c:pt>
                <c:pt idx="1">
                  <c:v>26.8</c:v>
                </c:pt>
                <c:pt idx="2">
                  <c:v>31.1</c:v>
                </c:pt>
                <c:pt idx="3">
                  <c:v>0.3</c:v>
                </c:pt>
              </c:numCache>
            </c:numRef>
          </c:val>
        </c:ser>
        <c:axId val="-2068027336"/>
        <c:axId val="-2113994440"/>
      </c:barChart>
      <c:catAx>
        <c:axId val="-2068027336"/>
        <c:scaling>
          <c:orientation val="minMax"/>
        </c:scaling>
        <c:delete val="0"/>
        <c:axPos val="l"/>
        <c:majorTickMark val="none"/>
        <c:minorTickMark val="none"/>
        <c:tickLblPos val="nextTo"/>
        <c:spPr>
          <a:ln>
            <a:solidFill>
              <a:srgbClr val="B6C4BC"/>
            </a:solidFill>
          </a:ln>
        </c:spPr>
        <c:crossAx val="-2113994440"/>
        <c:crosses val="autoZero"/>
        <c:auto val="1"/>
        <c:lblAlgn val="ctr"/>
        <c:lblOffset val="100"/>
        <c:noMultiLvlLbl val="0"/>
      </c:catAx>
      <c:valAx>
        <c:axId val="-2113994440"/>
        <c:scaling>
          <c:max val="100.0"/>
        </c:scaling>
        <c:delete val="0"/>
        <c:axPos val="b"/>
        <c:majorGridlines>
          <c:spPr>
            <a:ln w="6350">
              <a:solidFill>
                <a:srgbClr val="D5DED8"/>
              </a:solidFill>
            </a:ln>
          </c:spPr>
        </c:majorGridlines>
        <c:numFmt formatCode="0&quot;%&quot;" sourceLinked="0"/>
        <c:majorTickMark val="none"/>
        <c:minorTickMark val="none"/>
        <c:tickLblPos val="nextTo"/>
        <c:spPr>
          <a:ln>
            <a:noFill/>
          </a:ln>
        </c:spPr>
        <c:crossAx val="-2068027336"/>
        <c:crosses val="autoZero"/>
      </c:valAx>
    </c:plotArea>
    <c:legend>
      <c:legendPos val="t"/>
      <c:overlay val="0"/>
      <c:txPr>
        <a:bodyPr/>
        <a:lstStyle/>
        <a:p>
          <a:pPr>
            <a:defRPr sz="950"/>
          </a:pPr>
        </a:p>
      </c:txPr>
    </c:legend>
    <c:dispBlanksAs val="gap"/>
  </c:chart>
  <c:txPr>
    <a:bodyPr/>
    <a:lstStyle/>
    <a:p>
      <a:pPr>
        <a:defRPr sz="950">
          <a:solidFill>
            <a:srgbClr val="324239"/>
          </a:solidFill>
          <a:latin typeface="Segoe U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Indice de vulnérabilité</c:v>
                </c:pt>
              </c:strCache>
            </c:strRef>
          </c:tx>
          <c:spPr>
            <a:solidFill>
              <a:srgbClr val="0F7A4A"/>
            </a:solidFill>
            <a:ln>
              <a:noFill/>
            </a:ln>
          </c:spPr>
          <c:cat>
            <c:strRef>
              <c:f>Sheet1!$A$2:$A$10</c:f>
              <c:strCache>
                <c:ptCount val="9"/>
                <c:pt idx="0">
                  <c:v>Mont Balam</c:v>
                </c:pt>
                <c:pt idx="1">
                  <c:v>Forêt Tiyadja</c:v>
                </c:pt>
                <c:pt idx="2">
                  <c:v>Nuatja Sud</c:v>
                </c:pt>
                <c:pt idx="3">
                  <c:v>Asrama</c:v>
                </c:pt>
                <c:pt idx="4">
                  <c:v>Tetetou Nord</c:v>
                </c:pt>
                <c:pt idx="5">
                  <c:v>Amakpape</c:v>
                </c:pt>
                <c:pt idx="6">
                  <c:v>des Deux Bena</c:v>
                </c:pt>
                <c:pt idx="7">
                  <c:v>Sadjibou</c:v>
                </c:pt>
                <c:pt idx="8">
                  <c:v>Assoukoko</c:v>
                </c:pt>
              </c:strCache>
            </c:strRef>
          </c:cat>
          <c:val>
            <c:numRef>
              <c:f>Sheet1!$B$2:$B$10</c:f>
              <c:numCache>
                <c:formatCode>General</c:formatCode>
                <c:ptCount val="9"/>
                <c:pt idx="0">
                  <c:v>63.6</c:v>
                </c:pt>
                <c:pt idx="1">
                  <c:v>65.2</c:v>
                </c:pt>
                <c:pt idx="2">
                  <c:v>66.1</c:v>
                </c:pt>
                <c:pt idx="3">
                  <c:v>66.6</c:v>
                </c:pt>
                <c:pt idx="4">
                  <c:v>68.2</c:v>
                </c:pt>
                <c:pt idx="5">
                  <c:v>70.5</c:v>
                </c:pt>
                <c:pt idx="6">
                  <c:v>72.0</c:v>
                </c:pt>
                <c:pt idx="7">
                  <c:v>85.7</c:v>
                </c:pt>
                <c:pt idx="8">
                  <c:v>86.5</c:v>
                </c:pt>
              </c:numCache>
            </c:numRef>
          </c:val>
        </c:ser>
        <c:axId val="-2068027336"/>
        <c:axId val="-2113994440"/>
      </c:barChart>
      <c:catAx>
        <c:axId val="-2068027336"/>
        <c:scaling>
          <c:orientation val="minMax"/>
        </c:scaling>
        <c:delete val="0"/>
        <c:axPos val="l"/>
        <c:majorTickMark val="none"/>
        <c:minorTickMark val="none"/>
        <c:tickLblPos val="nextTo"/>
        <c:spPr>
          <a:ln>
            <a:solidFill>
              <a:srgbClr val="B6C4BC"/>
            </a:solidFill>
          </a:ln>
        </c:spPr>
        <c:crossAx val="-2113994440"/>
        <c:crosses val="autoZero"/>
        <c:auto val="1"/>
        <c:lblAlgn val="ctr"/>
        <c:lblOffset val="100"/>
        <c:noMultiLvlLbl val="0"/>
      </c:catAx>
      <c:valAx>
        <c:axId val="-2113994440"/>
        <c:scaling>
          <c:max val="100.0"/>
        </c:scaling>
        <c:delete val="0"/>
        <c:axPos val="b"/>
        <c:majorGridlines>
          <c:spPr>
            <a:ln w="6350">
              <a:solidFill>
                <a:srgbClr val="D5DED8"/>
              </a:solidFill>
            </a:ln>
          </c:spPr>
        </c:majorGridlines>
        <c:numFmt formatCode="0" sourceLinked="0"/>
        <c:majorTickMark val="none"/>
        <c:minorTickMark val="none"/>
        <c:tickLblPos val="nextTo"/>
        <c:spPr>
          <a:ln>
            <a:noFill/>
          </a:ln>
        </c:spPr>
        <c:crossAx val="-2068027336"/>
        <c:crosses val="autoZero"/>
      </c:valAx>
    </c:plotArea>
    <c:dispBlanksAs val="gap"/>
  </c:chart>
  <c:txPr>
    <a:bodyPr/>
    <a:lstStyle/>
    <a:p>
      <a:pPr>
        <a:defRPr sz="950">
          <a:solidFill>
            <a:srgbClr val="32423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33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armoiries_togo.png"/>
          <p:cNvPicPr>
            <a:picLocks noChangeAspect="1"/>
          </p:cNvPicPr>
          <p:nvPr/>
        </p:nvPicPr>
        <p:blipFill>
          <a:blip r:embed="rId2"/>
          <a:stretch>
            <a:fillRect/>
          </a:stretch>
        </p:blipFill>
        <p:spPr>
          <a:xfrm>
            <a:off x="8899855" y="1371600"/>
            <a:ext cx="2224278" cy="3200400"/>
          </a:xfrm>
          <a:prstGeom prst="rect">
            <a:avLst/>
          </a:prstGeom>
        </p:spPr>
      </p:pic>
      <p:sp>
        <p:nvSpPr>
          <p:cNvPr id="4" name="TextBox 3"/>
          <p:cNvSpPr txBox="1"/>
          <p:nvPr/>
        </p:nvSpPr>
        <p:spPr>
          <a:xfrm>
            <a:off x="566928" y="1325880"/>
            <a:ext cx="8229600" cy="219456"/>
          </a:xfrm>
          <a:prstGeom prst="rect">
            <a:avLst/>
          </a:prstGeom>
          <a:noFill/>
        </p:spPr>
        <p:txBody>
          <a:bodyPr wrap="square" anchor="t" lIns="0" rIns="0" tIns="0" bIns="0">
            <a:spAutoFit/>
          </a:bodyPr>
          <a:lstStyle/>
          <a:p>
            <a:pPr algn="l">
              <a:lnSpc>
                <a:spcPct val="125000"/>
              </a:lnSpc>
            </a:pPr>
            <a:r>
              <a:rPr sz="1100" b="1" spc="90">
                <a:solidFill>
                  <a:srgbClr val="93BFA6"/>
                </a:solidFill>
                <a:latin typeface="Segoe UI"/>
              </a:rPr>
              <a:t>DÉFI 2 · DATALAB.GOUV.TG · RÉPUBLIQUE TOGOLAISE</a:t>
            </a:r>
          </a:p>
        </p:txBody>
      </p:sp>
      <p:sp>
        <p:nvSpPr>
          <p:cNvPr id="5" name="TextBox 4"/>
          <p:cNvSpPr txBox="1"/>
          <p:nvPr/>
        </p:nvSpPr>
        <p:spPr>
          <a:xfrm>
            <a:off x="566928" y="1783080"/>
            <a:ext cx="8046720" cy="1645920"/>
          </a:xfrm>
          <a:prstGeom prst="rect">
            <a:avLst/>
          </a:prstGeom>
          <a:noFill/>
        </p:spPr>
        <p:txBody>
          <a:bodyPr wrap="square" anchor="t" lIns="0" rIns="0" tIns="0" bIns="0">
            <a:spAutoFit/>
          </a:bodyPr>
          <a:lstStyle/>
          <a:p>
            <a:pPr algn="l">
              <a:lnSpc>
                <a:spcPct val="106000"/>
              </a:lnSpc>
            </a:pPr>
            <a:r>
              <a:rPr sz="4200" b="1">
                <a:solidFill>
                  <a:srgbClr val="FFFFFF"/>
                </a:solidFill>
                <a:latin typeface="Segoe UI"/>
              </a:rPr>
              <a:t>Électrifier les campagnes
sans brûler les forêts</a:t>
            </a:r>
          </a:p>
        </p:txBody>
      </p:sp>
      <p:sp>
        <p:nvSpPr>
          <p:cNvPr id="6" name="TextBox 5"/>
          <p:cNvSpPr txBox="1"/>
          <p:nvPr/>
        </p:nvSpPr>
        <p:spPr>
          <a:xfrm>
            <a:off x="566928" y="3520440"/>
            <a:ext cx="7772400" cy="868680"/>
          </a:xfrm>
          <a:prstGeom prst="rect">
            <a:avLst/>
          </a:prstGeom>
          <a:noFill/>
        </p:spPr>
        <p:txBody>
          <a:bodyPr wrap="square" anchor="t" lIns="0" rIns="0" tIns="0" bIns="0">
            <a:spAutoFit/>
          </a:bodyPr>
          <a:lstStyle/>
          <a:p>
            <a:pPr algn="l">
              <a:lnSpc>
                <a:spcPct val="150000"/>
              </a:lnSpc>
            </a:pPr>
            <a:r>
              <a:rPr sz="1400" b="0">
                <a:solidFill>
                  <a:srgbClr val="E9F2EC"/>
                </a:solidFill>
                <a:latin typeface="Segoe UI"/>
              </a:rPr>
              <a:t>Le Togo vise l'accès universel à l'électricité en 2030. Les données montrent que l'objectif ne se joue pas sur le réseau : il se joue sur la cuisson des ménages, qui consomme la forêt.</a:t>
            </a:r>
          </a:p>
        </p:txBody>
      </p:sp>
      <p:sp>
        <p:nvSpPr>
          <p:cNvPr id="7" name="TextBox 6"/>
          <p:cNvSpPr txBox="1"/>
          <p:nvPr/>
        </p:nvSpPr>
        <p:spPr>
          <a:xfrm>
            <a:off x="566928" y="4709160"/>
            <a:ext cx="2606040" cy="182880"/>
          </a:xfrm>
          <a:prstGeom prst="rect">
            <a:avLst/>
          </a:prstGeom>
          <a:noFill/>
        </p:spPr>
        <p:txBody>
          <a:bodyPr wrap="square" anchor="t" lIns="0" rIns="0" tIns="0" bIns="0">
            <a:spAutoFit/>
          </a:bodyPr>
          <a:lstStyle/>
          <a:p>
            <a:pPr algn="l">
              <a:lnSpc>
                <a:spcPct val="125000"/>
              </a:lnSpc>
            </a:pPr>
            <a:r>
              <a:rPr sz="900" b="1" spc="60">
                <a:solidFill>
                  <a:srgbClr val="93BFA6"/>
                </a:solidFill>
                <a:latin typeface="Segoe UI"/>
              </a:rPr>
              <a:t>ACCÈS RURAL À L'ÉLECTRICITÉ</a:t>
            </a:r>
          </a:p>
        </p:txBody>
      </p:sp>
      <p:sp>
        <p:nvSpPr>
          <p:cNvPr id="8" name="TextBox 7"/>
          <p:cNvSpPr txBox="1"/>
          <p:nvPr/>
        </p:nvSpPr>
        <p:spPr>
          <a:xfrm>
            <a:off x="566928" y="4937760"/>
            <a:ext cx="260604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Segoe UI"/>
              </a:rPr>
              <a:t>25 %</a:t>
            </a:r>
          </a:p>
        </p:txBody>
      </p:sp>
      <p:sp>
        <p:nvSpPr>
          <p:cNvPr id="9" name="TextBox 8"/>
          <p:cNvSpPr txBox="1"/>
          <p:nvPr/>
        </p:nvSpPr>
        <p:spPr>
          <a:xfrm>
            <a:off x="3310128" y="4709160"/>
            <a:ext cx="2606040" cy="182880"/>
          </a:xfrm>
          <a:prstGeom prst="rect">
            <a:avLst/>
          </a:prstGeom>
          <a:noFill/>
        </p:spPr>
        <p:txBody>
          <a:bodyPr wrap="square" anchor="t" lIns="0" rIns="0" tIns="0" bIns="0">
            <a:spAutoFit/>
          </a:bodyPr>
          <a:lstStyle/>
          <a:p>
            <a:pPr algn="l">
              <a:lnSpc>
                <a:spcPct val="125000"/>
              </a:lnSpc>
            </a:pPr>
            <a:r>
              <a:rPr sz="900" b="1" spc="60">
                <a:solidFill>
                  <a:srgbClr val="93BFA6"/>
                </a:solidFill>
                <a:latin typeface="Segoe UI"/>
              </a:rPr>
              <a:t>MÉNAGES AU BOIS OU AU CHARBON</a:t>
            </a:r>
          </a:p>
        </p:txBody>
      </p:sp>
      <p:sp>
        <p:nvSpPr>
          <p:cNvPr id="10" name="TextBox 9"/>
          <p:cNvSpPr txBox="1"/>
          <p:nvPr/>
        </p:nvSpPr>
        <p:spPr>
          <a:xfrm>
            <a:off x="3310128" y="4937760"/>
            <a:ext cx="260604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Segoe UI"/>
              </a:rPr>
              <a:t>89 %</a:t>
            </a:r>
          </a:p>
        </p:txBody>
      </p:sp>
      <p:sp>
        <p:nvSpPr>
          <p:cNvPr id="11" name="TextBox 10"/>
          <p:cNvSpPr txBox="1"/>
          <p:nvPr/>
        </p:nvSpPr>
        <p:spPr>
          <a:xfrm>
            <a:off x="6053328" y="4709160"/>
            <a:ext cx="2606040" cy="182880"/>
          </a:xfrm>
          <a:prstGeom prst="rect">
            <a:avLst/>
          </a:prstGeom>
          <a:noFill/>
        </p:spPr>
        <p:txBody>
          <a:bodyPr wrap="square" anchor="t" lIns="0" rIns="0" tIns="0" bIns="0">
            <a:spAutoFit/>
          </a:bodyPr>
          <a:lstStyle/>
          <a:p>
            <a:pPr algn="l">
              <a:lnSpc>
                <a:spcPct val="125000"/>
              </a:lnSpc>
            </a:pPr>
            <a:r>
              <a:rPr sz="900" b="1" spc="60">
                <a:solidFill>
                  <a:srgbClr val="93BFA6"/>
                </a:solidFill>
                <a:latin typeface="Segoe UI"/>
              </a:rPr>
              <a:t>FORÊT PERDUE CHAQUE ANNÉE</a:t>
            </a:r>
          </a:p>
        </p:txBody>
      </p:sp>
      <p:sp>
        <p:nvSpPr>
          <p:cNvPr id="12" name="TextBox 11"/>
          <p:cNvSpPr txBox="1"/>
          <p:nvPr/>
        </p:nvSpPr>
        <p:spPr>
          <a:xfrm>
            <a:off x="6053328" y="4937760"/>
            <a:ext cx="2606040" cy="457200"/>
          </a:xfrm>
          <a:prstGeom prst="rect">
            <a:avLst/>
          </a:prstGeom>
          <a:noFill/>
        </p:spPr>
        <p:txBody>
          <a:bodyPr wrap="square" anchor="t" lIns="0" rIns="0" tIns="0" bIns="0">
            <a:spAutoFit/>
          </a:bodyPr>
          <a:lstStyle/>
          <a:p>
            <a:pPr algn="l">
              <a:lnSpc>
                <a:spcPct val="100000"/>
              </a:lnSpc>
            </a:pPr>
            <a:r>
              <a:rPr sz="2800" b="1">
                <a:solidFill>
                  <a:srgbClr val="FFFFFF"/>
                </a:solidFill>
                <a:latin typeface="Segoe UI"/>
              </a:rPr>
              <a:t>−5 011 ha</a:t>
            </a:r>
          </a:p>
        </p:txBody>
      </p:sp>
      <p:sp>
        <p:nvSpPr>
          <p:cNvPr id="13" name="TextBox 12"/>
          <p:cNvSpPr txBox="1"/>
          <p:nvPr/>
        </p:nvSpPr>
        <p:spPr>
          <a:xfrm>
            <a:off x="566928" y="5596128"/>
            <a:ext cx="7772400" cy="365760"/>
          </a:xfrm>
          <a:prstGeom prst="rect">
            <a:avLst/>
          </a:prstGeom>
          <a:noFill/>
        </p:spPr>
        <p:txBody>
          <a:bodyPr wrap="square" anchor="t" lIns="0" rIns="0" tIns="0" bIns="0">
            <a:spAutoFit/>
          </a:bodyPr>
          <a:lstStyle/>
          <a:p>
            <a:pPr algn="l">
              <a:lnSpc>
                <a:spcPct val="125000"/>
              </a:lnSpc>
            </a:pPr>
            <a:r>
              <a:rPr sz="1700" b="1">
                <a:solidFill>
                  <a:srgbClr val="FFFFFF"/>
                </a:solidFill>
                <a:latin typeface="Segoe UI"/>
              </a:rPr>
              <a:t>KOUTSAVA Kossi Epiphane</a:t>
            </a:r>
          </a:p>
        </p:txBody>
      </p:sp>
      <p:sp>
        <p:nvSpPr>
          <p:cNvPr id="14" name="TextBox 13"/>
          <p:cNvSpPr txBox="1"/>
          <p:nvPr/>
        </p:nvSpPr>
        <p:spPr>
          <a:xfrm>
            <a:off x="566928" y="6035040"/>
            <a:ext cx="8503920" cy="548640"/>
          </a:xfrm>
          <a:prstGeom prst="rect">
            <a:avLst/>
          </a:prstGeom>
          <a:noFill/>
        </p:spPr>
        <p:txBody>
          <a:bodyPr wrap="square" anchor="t" lIns="0" rIns="0" tIns="0" bIns="0">
            <a:spAutoFit/>
          </a:bodyPr>
          <a:lstStyle/>
          <a:p>
            <a:pPr algn="l">
              <a:lnSpc>
                <a:spcPct val="140000"/>
              </a:lnSpc>
            </a:pPr>
            <a:r>
              <a:rPr sz="900" b="0">
                <a:solidFill>
                  <a:srgbClr val="93BFA6"/>
                </a:solidFill>
                <a:latin typeface="Segoe UI"/>
              </a:rPr>
              <a:t>Six jeux de données du défi · datalab.gouv.tg — Banque Mondiale, inventaire national des GES 2018, stations météorologiques, forêts classées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L'ESSENTIEL</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Ce qu'il faut décider, et pourquoi</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2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sp>
        <p:nvSpPr>
          <p:cNvPr id="8" name="Rounded Rectangle 7"/>
          <p:cNvSpPr/>
          <p:nvPr/>
        </p:nvSpPr>
        <p:spPr>
          <a:xfrm>
            <a:off x="566928" y="1572768"/>
            <a:ext cx="2145731"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22376" y="1709928"/>
            <a:ext cx="1834835"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RURAUX PRIVÉS D'ÉLECTRICITÉ</a:t>
            </a:r>
          </a:p>
        </p:txBody>
      </p:sp>
      <p:sp>
        <p:nvSpPr>
          <p:cNvPr id="10" name="TextBox 9"/>
          <p:cNvSpPr txBox="1"/>
          <p:nvPr/>
        </p:nvSpPr>
        <p:spPr>
          <a:xfrm>
            <a:off x="722376" y="1938528"/>
            <a:ext cx="1834835"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+19</a:t>
            </a:r>
            <a:r>
              <a:rPr sz="2600" b="1">
                <a:solidFill>
                  <a:srgbClr val="B32418"/>
                </a:solidFill>
                <a:latin typeface="Segoe UI"/>
              </a:rPr>
              <a:t> %</a:t>
            </a:r>
          </a:p>
        </p:txBody>
      </p:sp>
      <p:sp>
        <p:nvSpPr>
          <p:cNvPr id="11" name="TextBox 10"/>
          <p:cNvSpPr txBox="1"/>
          <p:nvPr/>
        </p:nvSpPr>
        <p:spPr>
          <a:xfrm>
            <a:off x="722376" y="2414016"/>
            <a:ext cx="1834835" cy="548640"/>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depuis 1998 — de 3,11 à 3,72 M de personnes, alors que le taux d'accès était multiplié par 8</a:t>
            </a:r>
          </a:p>
        </p:txBody>
      </p:sp>
      <p:sp>
        <p:nvSpPr>
          <p:cNvPr id="12" name="Rounded Rectangle 11"/>
          <p:cNvSpPr/>
          <p:nvPr/>
        </p:nvSpPr>
        <p:spPr>
          <a:xfrm>
            <a:off x="2794955" y="1572768"/>
            <a:ext cx="2145731"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950403" y="1709928"/>
            <a:ext cx="1834835"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RACCORDEMENTS MANQUANTS</a:t>
            </a:r>
          </a:p>
        </p:txBody>
      </p:sp>
      <p:sp>
        <p:nvSpPr>
          <p:cNvPr id="14" name="TextBox 13"/>
          <p:cNvSpPr txBox="1"/>
          <p:nvPr/>
        </p:nvSpPr>
        <p:spPr>
          <a:xfrm>
            <a:off x="2950403" y="1938528"/>
            <a:ext cx="1834835"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13 800</a:t>
            </a:r>
            <a:r>
              <a:rPr sz="2600" b="1">
                <a:solidFill>
                  <a:srgbClr val="B32418"/>
                </a:solidFill>
                <a:latin typeface="Segoe UI"/>
              </a:rPr>
              <a:t> /an</a:t>
            </a:r>
          </a:p>
        </p:txBody>
      </p:sp>
      <p:sp>
        <p:nvSpPr>
          <p:cNvPr id="15" name="TextBox 14"/>
          <p:cNvSpPr txBox="1"/>
          <p:nvPr/>
        </p:nvSpPr>
        <p:spPr>
          <a:xfrm>
            <a:off x="2950403" y="2414016"/>
            <a:ext cx="1834835" cy="548640"/>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le déficit annuel face à la seule croissance rurale, sur 2012–2022</a:t>
            </a:r>
          </a:p>
        </p:txBody>
      </p:sp>
      <p:sp>
        <p:nvSpPr>
          <p:cNvPr id="16" name="Rounded Rectangle 15"/>
          <p:cNvSpPr/>
          <p:nvPr/>
        </p:nvSpPr>
        <p:spPr>
          <a:xfrm>
            <a:off x="5022982" y="1572768"/>
            <a:ext cx="2145731"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78430" y="1709928"/>
            <a:ext cx="1834835"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MÉNAGES AU BOIS OU AU CHARBON</a:t>
            </a:r>
          </a:p>
        </p:txBody>
      </p:sp>
      <p:sp>
        <p:nvSpPr>
          <p:cNvPr id="18" name="TextBox 17"/>
          <p:cNvSpPr txBox="1"/>
          <p:nvPr/>
        </p:nvSpPr>
        <p:spPr>
          <a:xfrm>
            <a:off x="5178430" y="1938528"/>
            <a:ext cx="1834835"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89</a:t>
            </a:r>
            <a:r>
              <a:rPr sz="2600" b="1">
                <a:solidFill>
                  <a:srgbClr val="B32418"/>
                </a:solidFill>
                <a:latin typeface="Segoe UI"/>
              </a:rPr>
              <a:t> %</a:t>
            </a:r>
          </a:p>
        </p:txBody>
      </p:sp>
      <p:sp>
        <p:nvSpPr>
          <p:cNvPr id="19" name="TextBox 18"/>
          <p:cNvSpPr txBox="1"/>
          <p:nvPr/>
        </p:nvSpPr>
        <p:spPr>
          <a:xfrm>
            <a:off x="5178430" y="2414016"/>
            <a:ext cx="1834835" cy="548640"/>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en 2017, contre 90 % en 2014 : aucun recul</a:t>
            </a:r>
          </a:p>
        </p:txBody>
      </p:sp>
      <p:sp>
        <p:nvSpPr>
          <p:cNvPr id="20" name="Rounded Rectangle 19"/>
          <p:cNvSpPr/>
          <p:nvPr/>
        </p:nvSpPr>
        <p:spPr>
          <a:xfrm>
            <a:off x="7251009" y="1572768"/>
            <a:ext cx="2145731"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06457" y="1709928"/>
            <a:ext cx="1834835"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FORÊT PERDUE CHAQUE ANNÉE</a:t>
            </a:r>
          </a:p>
        </p:txBody>
      </p:sp>
      <p:sp>
        <p:nvSpPr>
          <p:cNvPr id="22" name="TextBox 21"/>
          <p:cNvSpPr txBox="1"/>
          <p:nvPr/>
        </p:nvSpPr>
        <p:spPr>
          <a:xfrm>
            <a:off x="7406457" y="1938528"/>
            <a:ext cx="1834835"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2 960</a:t>
            </a:r>
            <a:r>
              <a:rPr sz="2600" b="1">
                <a:solidFill>
                  <a:srgbClr val="B32418"/>
                </a:solidFill>
                <a:latin typeface="Segoe UI"/>
              </a:rPr>
              <a:t> ha</a:t>
            </a:r>
          </a:p>
        </p:txBody>
      </p:sp>
      <p:sp>
        <p:nvSpPr>
          <p:cNvPr id="23" name="TextBox 22"/>
          <p:cNvSpPr txBox="1"/>
          <p:nvPr/>
        </p:nvSpPr>
        <p:spPr>
          <a:xfrm>
            <a:off x="7406457" y="2414016"/>
            <a:ext cx="1834835" cy="548640"/>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dans le régime en cours depuis 2000 — 3.1 fois moins que dans les années 1990, mais sans reprise</a:t>
            </a:r>
          </a:p>
        </p:txBody>
      </p:sp>
      <p:sp>
        <p:nvSpPr>
          <p:cNvPr id="24" name="Rounded Rectangle 23"/>
          <p:cNvSpPr/>
          <p:nvPr/>
        </p:nvSpPr>
        <p:spPr>
          <a:xfrm>
            <a:off x="9479036" y="1572768"/>
            <a:ext cx="2145731"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34484" y="1709928"/>
            <a:ext cx="1834835"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EXPANSION AGRICOLE</a:t>
            </a:r>
          </a:p>
        </p:txBody>
      </p:sp>
      <p:sp>
        <p:nvSpPr>
          <p:cNvPr id="26" name="TextBox 25"/>
          <p:cNvSpPr txBox="1"/>
          <p:nvPr/>
        </p:nvSpPr>
        <p:spPr>
          <a:xfrm>
            <a:off x="9634484" y="1938528"/>
            <a:ext cx="1834835" cy="411480"/>
          </a:xfrm>
          <a:prstGeom prst="rect">
            <a:avLst/>
          </a:prstGeom>
          <a:noFill/>
        </p:spPr>
        <p:txBody>
          <a:bodyPr wrap="square" anchor="t" lIns="0" rIns="0" tIns="0" bIns="0">
            <a:spAutoFit/>
          </a:bodyPr>
          <a:lstStyle/>
          <a:p>
            <a:pPr algn="l">
              <a:lnSpc>
                <a:spcPct val="100000"/>
              </a:lnSpc>
            </a:pPr>
            <a:r>
              <a:rPr sz="2600" b="1">
                <a:solidFill>
                  <a:srgbClr val="B87407"/>
                </a:solidFill>
                <a:latin typeface="Segoe UI"/>
              </a:rPr>
              <a:t>× 5.0</a:t>
            </a:r>
            <a:r>
              <a:rPr sz="2600" b="1">
                <a:solidFill>
                  <a:srgbClr val="B87407"/>
                </a:solidFill>
                <a:latin typeface="Segoe UI"/>
              </a:rPr>
              <a:t/>
            </a:r>
          </a:p>
        </p:txBody>
      </p:sp>
      <p:sp>
        <p:nvSpPr>
          <p:cNvPr id="27" name="TextBox 26"/>
          <p:cNvSpPr txBox="1"/>
          <p:nvPr/>
        </p:nvSpPr>
        <p:spPr>
          <a:xfrm>
            <a:off x="9634484" y="2414016"/>
            <a:ext cx="1834835" cy="548640"/>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ce que la forêt perd : 6 600 km² gagnés par l'agriculture contre 1 317 km² de forêt perdus</a:t>
            </a:r>
          </a:p>
        </p:txBody>
      </p:sp>
      <p:sp>
        <p:nvSpPr>
          <p:cNvPr id="28" name="Rounded Rectangle 27"/>
          <p:cNvSpPr/>
          <p:nvPr/>
        </p:nvSpPr>
        <p:spPr>
          <a:xfrm>
            <a:off x="566928" y="3182112"/>
            <a:ext cx="11057839" cy="1097280"/>
          </a:xfrm>
          <a:prstGeom prst="roundRect">
            <a:avLst>
              <a:gd name="adj" fmla="val 5000"/>
            </a:avLst>
          </a:prstGeom>
          <a:solidFill>
            <a:srgbClr val="FB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9808" y="3319272"/>
            <a:ext cx="10692079" cy="164592"/>
          </a:xfrm>
          <a:prstGeom prst="rect">
            <a:avLst/>
          </a:prstGeom>
          <a:noFill/>
        </p:spPr>
        <p:txBody>
          <a:bodyPr wrap="square" anchor="t" lIns="0" rIns="0" tIns="0" bIns="0">
            <a:spAutoFit/>
          </a:bodyPr>
          <a:lstStyle/>
          <a:p>
            <a:pPr algn="l">
              <a:lnSpc>
                <a:spcPct val="125000"/>
              </a:lnSpc>
            </a:pPr>
            <a:r>
              <a:rPr sz="850" b="1" spc="60">
                <a:solidFill>
                  <a:srgbClr val="B32418"/>
                </a:solidFill>
                <a:latin typeface="Segoe UI"/>
              </a:rPr>
              <a:t>LE RÉSULTAT QUI COMMANDE TOUT LE RESTE</a:t>
            </a:r>
          </a:p>
        </p:txBody>
      </p:sp>
      <p:sp>
        <p:nvSpPr>
          <p:cNvPr id="30" name="TextBox 29"/>
          <p:cNvSpPr txBox="1"/>
          <p:nvPr/>
        </p:nvSpPr>
        <p:spPr>
          <a:xfrm>
            <a:off x="749808" y="3547872"/>
            <a:ext cx="10692079" cy="640080"/>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Le taux d'accès rural a été multiplié par 8 depuis 1998 ; le nombre de ruraux privés d'électricité a augmenté de 19 % sur la même période, parce que la population rurale croît plus vite que le réseau. Piloter sur le taux, c'est piloter sur l'indicateur qui progresse pendant que le problème grandit. Au rythme observé (+0,91 pt/an), l'accès universel rural tombe en 2104 : tenir 2030 demanderait +9,4 pt/an, soit 10 fois plus vite.</a:t>
            </a:r>
          </a:p>
        </p:txBody>
      </p:sp>
      <p:sp>
        <p:nvSpPr>
          <p:cNvPr id="31" name="TextBox 30"/>
          <p:cNvSpPr txBox="1"/>
          <p:nvPr/>
        </p:nvSpPr>
        <p:spPr>
          <a:xfrm>
            <a:off x="566928" y="4443984"/>
            <a:ext cx="11057839" cy="182880"/>
          </a:xfrm>
          <a:prstGeom prst="rect">
            <a:avLst/>
          </a:prstGeom>
          <a:noFill/>
        </p:spPr>
        <p:txBody>
          <a:bodyPr wrap="square" anchor="t" lIns="0" rIns="0" tIns="0" bIns="0">
            <a:spAutoFit/>
          </a:bodyPr>
          <a:lstStyle/>
          <a:p>
            <a:pPr algn="l">
              <a:lnSpc>
                <a:spcPct val="125000"/>
              </a:lnSpc>
            </a:pPr>
            <a:r>
              <a:rPr sz="1100" b="1" spc="60">
                <a:solidFill>
                  <a:srgbClr val="0C1A14"/>
                </a:solidFill>
                <a:latin typeface="Segoe UI"/>
              </a:rPr>
              <a:t>QUATRE LEVIERS, DANS CET ORDRE DE PRIORITÉ</a:t>
            </a:r>
          </a:p>
        </p:txBody>
      </p:sp>
      <p:sp>
        <p:nvSpPr>
          <p:cNvPr id="32" name="Rounded Rectangle 31"/>
          <p:cNvSpPr/>
          <p:nvPr/>
        </p:nvSpPr>
        <p:spPr>
          <a:xfrm>
            <a:off x="566928" y="4718304"/>
            <a:ext cx="2702737"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3232" y="4809744"/>
            <a:ext cx="274320" cy="292608"/>
          </a:xfrm>
          <a:prstGeom prst="rect">
            <a:avLst/>
          </a:prstGeom>
          <a:noFill/>
        </p:spPr>
        <p:txBody>
          <a:bodyPr wrap="square" anchor="t" lIns="0" rIns="0" tIns="0" bIns="0">
            <a:spAutoFit/>
          </a:bodyPr>
          <a:lstStyle/>
          <a:p>
            <a:pPr algn="l">
              <a:lnSpc>
                <a:spcPct val="100000"/>
              </a:lnSpc>
            </a:pPr>
            <a:r>
              <a:rPr sz="1900" b="1">
                <a:solidFill>
                  <a:srgbClr val="B32418"/>
                </a:solidFill>
                <a:latin typeface="Segoe UI"/>
              </a:rPr>
              <a:t>1</a:t>
            </a:r>
          </a:p>
        </p:txBody>
      </p:sp>
      <p:sp>
        <p:nvSpPr>
          <p:cNvPr id="34" name="TextBox 33"/>
          <p:cNvSpPr txBox="1"/>
          <p:nvPr/>
        </p:nvSpPr>
        <p:spPr>
          <a:xfrm>
            <a:off x="1024128" y="4846320"/>
            <a:ext cx="2135809" cy="256032"/>
          </a:xfrm>
          <a:prstGeom prst="rect">
            <a:avLst/>
          </a:prstGeom>
          <a:noFill/>
        </p:spPr>
        <p:txBody>
          <a:bodyPr wrap="square" anchor="t" lIns="0" rIns="0" tIns="0" bIns="0">
            <a:spAutoFit/>
          </a:bodyPr>
          <a:lstStyle/>
          <a:p>
            <a:pPr algn="l">
              <a:lnSpc>
                <a:spcPct val="110000"/>
              </a:lnSpc>
            </a:pPr>
            <a:r>
              <a:rPr sz="1150" b="1">
                <a:solidFill>
                  <a:srgbClr val="0C1A14"/>
                </a:solidFill>
                <a:latin typeface="Segoe UI"/>
              </a:rPr>
              <a:t>Cuisson propre</a:t>
            </a:r>
          </a:p>
        </p:txBody>
      </p:sp>
      <p:sp>
        <p:nvSpPr>
          <p:cNvPr id="35" name="TextBox 34"/>
          <p:cNvSpPr txBox="1"/>
          <p:nvPr/>
        </p:nvSpPr>
        <p:spPr>
          <a:xfrm>
            <a:off x="713232" y="5285232"/>
            <a:ext cx="2410129" cy="274320"/>
          </a:xfrm>
          <a:prstGeom prst="rect">
            <a:avLst/>
          </a:prstGeom>
          <a:noFill/>
        </p:spPr>
        <p:txBody>
          <a:bodyPr wrap="square" anchor="t" lIns="0" rIns="0" tIns="0" bIns="0">
            <a:spAutoFit/>
          </a:bodyPr>
          <a:lstStyle/>
          <a:p>
            <a:pPr algn="l">
              <a:lnSpc>
                <a:spcPct val="125000"/>
              </a:lnSpc>
            </a:pPr>
            <a:r>
              <a:rPr sz="900" b="1">
                <a:solidFill>
                  <a:srgbClr val="B32418"/>
                </a:solidFill>
                <a:latin typeface="Segoe UI"/>
              </a:rPr>
              <a:t>8,1 M de personnes</a:t>
            </a:r>
          </a:p>
        </p:txBody>
      </p:sp>
      <p:sp>
        <p:nvSpPr>
          <p:cNvPr id="36" name="TextBox 35"/>
          <p:cNvSpPr txBox="1"/>
          <p:nvPr/>
        </p:nvSpPr>
        <p:spPr>
          <a:xfrm>
            <a:off x="713232" y="5577840"/>
            <a:ext cx="2410129" cy="530352"/>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De 0,9 % à 15 % d'accès rural à une cuisson propre en 2030</a:t>
            </a:r>
          </a:p>
        </p:txBody>
      </p:sp>
      <p:sp>
        <p:nvSpPr>
          <p:cNvPr id="37" name="Rounded Rectangle 36"/>
          <p:cNvSpPr/>
          <p:nvPr/>
        </p:nvSpPr>
        <p:spPr>
          <a:xfrm>
            <a:off x="3351961" y="4718304"/>
            <a:ext cx="2702737"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98265" y="4809744"/>
            <a:ext cx="274320" cy="292608"/>
          </a:xfrm>
          <a:prstGeom prst="rect">
            <a:avLst/>
          </a:prstGeom>
          <a:noFill/>
        </p:spPr>
        <p:txBody>
          <a:bodyPr wrap="square" anchor="t" lIns="0" rIns="0" tIns="0" bIns="0">
            <a:spAutoFit/>
          </a:bodyPr>
          <a:lstStyle/>
          <a:p>
            <a:pPr algn="l">
              <a:lnSpc>
                <a:spcPct val="100000"/>
              </a:lnSpc>
            </a:pPr>
            <a:r>
              <a:rPr sz="1900" b="1">
                <a:solidFill>
                  <a:srgbClr val="B87407"/>
                </a:solidFill>
                <a:latin typeface="Segoe UI"/>
              </a:rPr>
              <a:t>2</a:t>
            </a:r>
          </a:p>
        </p:txBody>
      </p:sp>
      <p:sp>
        <p:nvSpPr>
          <p:cNvPr id="39" name="TextBox 38"/>
          <p:cNvSpPr txBox="1"/>
          <p:nvPr/>
        </p:nvSpPr>
        <p:spPr>
          <a:xfrm>
            <a:off x="3809161" y="4846320"/>
            <a:ext cx="2135809" cy="256032"/>
          </a:xfrm>
          <a:prstGeom prst="rect">
            <a:avLst/>
          </a:prstGeom>
          <a:noFill/>
        </p:spPr>
        <p:txBody>
          <a:bodyPr wrap="square" anchor="t" lIns="0" rIns="0" tIns="0" bIns="0">
            <a:spAutoFit/>
          </a:bodyPr>
          <a:lstStyle/>
          <a:p>
            <a:pPr algn="l">
              <a:lnSpc>
                <a:spcPct val="110000"/>
              </a:lnSpc>
            </a:pPr>
            <a:r>
              <a:rPr sz="1150" b="1">
                <a:solidFill>
                  <a:srgbClr val="0C1A14"/>
                </a:solidFill>
                <a:latin typeface="Segoe UI"/>
              </a:rPr>
              <a:t>Solaire villageois décentralisé</a:t>
            </a:r>
          </a:p>
        </p:txBody>
      </p:sp>
      <p:sp>
        <p:nvSpPr>
          <p:cNvPr id="40" name="TextBox 39"/>
          <p:cNvSpPr txBox="1"/>
          <p:nvPr/>
        </p:nvSpPr>
        <p:spPr>
          <a:xfrm>
            <a:off x="3498265" y="5285232"/>
            <a:ext cx="2410129" cy="274320"/>
          </a:xfrm>
          <a:prstGeom prst="rect">
            <a:avLst/>
          </a:prstGeom>
          <a:noFill/>
        </p:spPr>
        <p:txBody>
          <a:bodyPr wrap="square" anchor="t" lIns="0" rIns="0" tIns="0" bIns="0">
            <a:spAutoFit/>
          </a:bodyPr>
          <a:lstStyle/>
          <a:p>
            <a:pPr algn="l">
              <a:lnSpc>
                <a:spcPct val="125000"/>
              </a:lnSpc>
            </a:pPr>
            <a:r>
              <a:rPr sz="900" b="1">
                <a:solidFill>
                  <a:srgbClr val="B87407"/>
                </a:solidFill>
                <a:latin typeface="Segoe UI"/>
              </a:rPr>
              <a:t>3,7 M de ruraux sans électricité</a:t>
            </a:r>
          </a:p>
        </p:txBody>
      </p:sp>
      <p:sp>
        <p:nvSpPr>
          <p:cNvPr id="41" name="TextBox 40"/>
          <p:cNvSpPr txBox="1"/>
          <p:nvPr/>
        </p:nvSpPr>
        <p:spPr>
          <a:xfrm>
            <a:off x="3498265" y="5577840"/>
            <a:ext cx="2410129" cy="530352"/>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Dépasser 65 700 raccordements ruraux par an — le seuil démographique — puis viser l'accès universel</a:t>
            </a:r>
          </a:p>
        </p:txBody>
      </p:sp>
      <p:sp>
        <p:nvSpPr>
          <p:cNvPr id="42" name="Rounded Rectangle 41"/>
          <p:cNvSpPr/>
          <p:nvPr/>
        </p:nvSpPr>
        <p:spPr>
          <a:xfrm>
            <a:off x="6136995" y="4718304"/>
            <a:ext cx="2702737"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283299" y="4809744"/>
            <a:ext cx="274320" cy="292608"/>
          </a:xfrm>
          <a:prstGeom prst="rect">
            <a:avLst/>
          </a:prstGeom>
          <a:noFill/>
        </p:spPr>
        <p:txBody>
          <a:bodyPr wrap="square" anchor="t" lIns="0" rIns="0" tIns="0" bIns="0">
            <a:spAutoFit/>
          </a:bodyPr>
          <a:lstStyle/>
          <a:p>
            <a:pPr algn="l">
              <a:lnSpc>
                <a:spcPct val="100000"/>
              </a:lnSpc>
            </a:pPr>
            <a:r>
              <a:rPr sz="1900" b="1">
                <a:solidFill>
                  <a:srgbClr val="0F7A4A"/>
                </a:solidFill>
                <a:latin typeface="Segoe UI"/>
              </a:rPr>
              <a:t>3</a:t>
            </a:r>
          </a:p>
        </p:txBody>
      </p:sp>
      <p:sp>
        <p:nvSpPr>
          <p:cNvPr id="44" name="TextBox 43"/>
          <p:cNvSpPr txBox="1"/>
          <p:nvPr/>
        </p:nvSpPr>
        <p:spPr>
          <a:xfrm>
            <a:off x="6594195" y="4846320"/>
            <a:ext cx="2135809" cy="256032"/>
          </a:xfrm>
          <a:prstGeom prst="rect">
            <a:avLst/>
          </a:prstGeom>
          <a:noFill/>
        </p:spPr>
        <p:txBody>
          <a:bodyPr wrap="square" anchor="t" lIns="0" rIns="0" tIns="0" bIns="0">
            <a:spAutoFit/>
          </a:bodyPr>
          <a:lstStyle/>
          <a:p>
            <a:pPr algn="l">
              <a:lnSpc>
                <a:spcPct val="110000"/>
              </a:lnSpc>
            </a:pPr>
            <a:r>
              <a:rPr sz="1150" b="1">
                <a:solidFill>
                  <a:srgbClr val="0C1A14"/>
                </a:solidFill>
                <a:latin typeface="Segoe UI"/>
              </a:rPr>
              <a:t>Protection ciblée des massifs</a:t>
            </a:r>
          </a:p>
        </p:txBody>
      </p:sp>
      <p:sp>
        <p:nvSpPr>
          <p:cNvPr id="45" name="TextBox 44"/>
          <p:cNvSpPr txBox="1"/>
          <p:nvPr/>
        </p:nvSpPr>
        <p:spPr>
          <a:xfrm>
            <a:off x="6283299" y="5285232"/>
            <a:ext cx="2410129" cy="274320"/>
          </a:xfrm>
          <a:prstGeom prst="rect">
            <a:avLst/>
          </a:prstGeom>
          <a:noFill/>
        </p:spPr>
        <p:txBody>
          <a:bodyPr wrap="square" anchor="t" lIns="0" rIns="0" tIns="0" bIns="0">
            <a:spAutoFit/>
          </a:bodyPr>
          <a:lstStyle/>
          <a:p>
            <a:pPr algn="l">
              <a:lnSpc>
                <a:spcPct val="125000"/>
              </a:lnSpc>
            </a:pPr>
            <a:r>
              <a:rPr sz="900" b="1">
                <a:solidFill>
                  <a:srgbClr val="0F7A4A"/>
                </a:solidFill>
                <a:latin typeface="Segoe UI"/>
              </a:rPr>
              <a:t>9 massifs · 91 468 ha de forêts classées</a:t>
            </a:r>
          </a:p>
        </p:txBody>
      </p:sp>
      <p:sp>
        <p:nvSpPr>
          <p:cNvPr id="46" name="TextBox 45"/>
          <p:cNvSpPr txBox="1"/>
          <p:nvPr/>
        </p:nvSpPr>
        <p:spPr>
          <a:xfrm>
            <a:off x="6283299" y="5577840"/>
            <a:ext cx="2410129" cy="530352"/>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Perte nette nulle sur les massifs prioritaires</a:t>
            </a:r>
          </a:p>
        </p:txBody>
      </p:sp>
      <p:sp>
        <p:nvSpPr>
          <p:cNvPr id="47" name="Rounded Rectangle 46"/>
          <p:cNvSpPr/>
          <p:nvPr/>
        </p:nvSpPr>
        <p:spPr>
          <a:xfrm>
            <a:off x="8922029" y="4718304"/>
            <a:ext cx="2702737" cy="1481328"/>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068333" y="4809744"/>
            <a:ext cx="274320" cy="292608"/>
          </a:xfrm>
          <a:prstGeom prst="rect">
            <a:avLst/>
          </a:prstGeom>
          <a:noFill/>
        </p:spPr>
        <p:txBody>
          <a:bodyPr wrap="square" anchor="t" lIns="0" rIns="0" tIns="0" bIns="0">
            <a:spAutoFit/>
          </a:bodyPr>
          <a:lstStyle/>
          <a:p>
            <a:pPr algn="l">
              <a:lnSpc>
                <a:spcPct val="100000"/>
              </a:lnSpc>
            </a:pPr>
            <a:r>
              <a:rPr sz="1900" b="1">
                <a:solidFill>
                  <a:srgbClr val="7C441F"/>
                </a:solidFill>
                <a:latin typeface="Segoe UI"/>
              </a:rPr>
              <a:t>4</a:t>
            </a:r>
          </a:p>
        </p:txBody>
      </p:sp>
      <p:sp>
        <p:nvSpPr>
          <p:cNvPr id="49" name="TextBox 48"/>
          <p:cNvSpPr txBox="1"/>
          <p:nvPr/>
        </p:nvSpPr>
        <p:spPr>
          <a:xfrm>
            <a:off x="9379229" y="4846320"/>
            <a:ext cx="2135809" cy="256032"/>
          </a:xfrm>
          <a:prstGeom prst="rect">
            <a:avLst/>
          </a:prstGeom>
          <a:noFill/>
        </p:spPr>
        <p:txBody>
          <a:bodyPr wrap="square" anchor="t" lIns="0" rIns="0" tIns="0" bIns="0">
            <a:spAutoFit/>
          </a:bodyPr>
          <a:lstStyle/>
          <a:p>
            <a:pPr algn="l">
              <a:lnSpc>
                <a:spcPct val="110000"/>
              </a:lnSpc>
            </a:pPr>
            <a:r>
              <a:rPr sz="1150" b="1">
                <a:solidFill>
                  <a:srgbClr val="0C1A14"/>
                </a:solidFill>
                <a:latin typeface="Segoe UI"/>
              </a:rPr>
              <a:t>Intensification agricole</a:t>
            </a:r>
          </a:p>
        </p:txBody>
      </p:sp>
      <p:sp>
        <p:nvSpPr>
          <p:cNvPr id="50" name="TextBox 49"/>
          <p:cNvSpPr txBox="1"/>
          <p:nvPr/>
        </p:nvSpPr>
        <p:spPr>
          <a:xfrm>
            <a:off x="9068333" y="5285232"/>
            <a:ext cx="2410129" cy="274320"/>
          </a:xfrm>
          <a:prstGeom prst="rect">
            <a:avLst/>
          </a:prstGeom>
          <a:noFill/>
        </p:spPr>
        <p:txBody>
          <a:bodyPr wrap="square" anchor="t" lIns="0" rIns="0" tIns="0" bIns="0">
            <a:spAutoFit/>
          </a:bodyPr>
          <a:lstStyle/>
          <a:p>
            <a:pPr algn="l">
              <a:lnSpc>
                <a:spcPct val="125000"/>
              </a:lnSpc>
            </a:pPr>
            <a:r>
              <a:rPr sz="900" b="1">
                <a:solidFill>
                  <a:srgbClr val="7C441F"/>
                </a:solidFill>
                <a:latin typeface="Segoe UI"/>
              </a:rPr>
              <a:t>19 700 ha défrichés par an, soit 6.7 × la perte forestière</a:t>
            </a:r>
          </a:p>
        </p:txBody>
      </p:sp>
      <p:sp>
        <p:nvSpPr>
          <p:cNvPr id="51" name="TextBox 50"/>
          <p:cNvSpPr txBox="1"/>
          <p:nvPr/>
        </p:nvSpPr>
        <p:spPr>
          <a:xfrm>
            <a:off x="9068333" y="5577840"/>
            <a:ext cx="2410129" cy="530352"/>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Ramener l'expansion des surfaces céréalières vers zéro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MÉTHODE</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Six jeux de données, une seule question : où agir en premier ?</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3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sp>
        <p:nvSpPr>
          <p:cNvPr id="8" name="TextBox 7"/>
          <p:cNvSpPr txBox="1"/>
          <p:nvPr/>
        </p:nvSpPr>
        <p:spPr>
          <a:xfrm>
            <a:off x="566928" y="1572768"/>
            <a:ext cx="5346039" cy="182880"/>
          </a:xfrm>
          <a:prstGeom prst="rect">
            <a:avLst/>
          </a:prstGeom>
          <a:noFill/>
        </p:spPr>
        <p:txBody>
          <a:bodyPr wrap="square" anchor="t" lIns="0" rIns="0" tIns="0" bIns="0">
            <a:spAutoFit/>
          </a:bodyPr>
          <a:lstStyle/>
          <a:p>
            <a:pPr algn="l">
              <a:lnSpc>
                <a:spcPct val="125000"/>
              </a:lnSpc>
            </a:pPr>
            <a:r>
              <a:rPr sz="1100" b="1">
                <a:solidFill>
                  <a:srgbClr val="0C1A14"/>
                </a:solidFill>
                <a:latin typeface="Segoe UI"/>
              </a:rPr>
              <a:t>Accès à l'électricité</a:t>
            </a:r>
          </a:p>
        </p:txBody>
      </p:sp>
      <p:sp>
        <p:nvSpPr>
          <p:cNvPr id="9" name="TextBox 8"/>
          <p:cNvSpPr txBox="1"/>
          <p:nvPr/>
        </p:nvSpPr>
        <p:spPr>
          <a:xfrm>
            <a:off x="566928" y="1792224"/>
            <a:ext cx="5254599" cy="457200"/>
          </a:xfrm>
          <a:prstGeom prst="rect">
            <a:avLst/>
          </a:prstGeom>
          <a:noFill/>
        </p:spPr>
        <p:txBody>
          <a:bodyPr wrap="square" anchor="t" lIns="0" rIns="0" tIns="0" bIns="0">
            <a:spAutoFit/>
          </a:bodyPr>
          <a:lstStyle/>
          <a:p>
            <a:pPr algn="l">
              <a:lnSpc>
                <a:spcPct val="130000"/>
              </a:lnSpc>
            </a:pPr>
            <a:r>
              <a:rPr sz="950" b="0">
                <a:solidFill>
                  <a:srgbClr val="5D6E64"/>
                </a:solidFill>
                <a:latin typeface="Segoe UI"/>
              </a:rPr>
              <a:t>Banque Mondiale · total, urbain, rural · 1998–2022</a:t>
            </a:r>
          </a:p>
        </p:txBody>
      </p:sp>
      <p:sp>
        <p:nvSpPr>
          <p:cNvPr id="10" name="TextBox 9"/>
          <p:cNvSpPr txBox="1"/>
          <p:nvPr/>
        </p:nvSpPr>
        <p:spPr>
          <a:xfrm>
            <a:off x="6205575" y="1572768"/>
            <a:ext cx="5346039" cy="182880"/>
          </a:xfrm>
          <a:prstGeom prst="rect">
            <a:avLst/>
          </a:prstGeom>
          <a:noFill/>
        </p:spPr>
        <p:txBody>
          <a:bodyPr wrap="square" anchor="t" lIns="0" rIns="0" tIns="0" bIns="0">
            <a:spAutoFit/>
          </a:bodyPr>
          <a:lstStyle/>
          <a:p>
            <a:pPr algn="l">
              <a:lnSpc>
                <a:spcPct val="125000"/>
              </a:lnSpc>
            </a:pPr>
            <a:r>
              <a:rPr sz="1100" b="1">
                <a:solidFill>
                  <a:srgbClr val="0C1A14"/>
                </a:solidFill>
                <a:latin typeface="Segoe UI"/>
              </a:rPr>
              <a:t>Cuisson des ménages</a:t>
            </a:r>
          </a:p>
        </p:txBody>
      </p:sp>
      <p:sp>
        <p:nvSpPr>
          <p:cNvPr id="11" name="TextBox 10"/>
          <p:cNvSpPr txBox="1"/>
          <p:nvPr/>
        </p:nvSpPr>
        <p:spPr>
          <a:xfrm>
            <a:off x="6205575" y="1792224"/>
            <a:ext cx="5254599" cy="457200"/>
          </a:xfrm>
          <a:prstGeom prst="rect">
            <a:avLst/>
          </a:prstGeom>
          <a:noFill/>
        </p:spPr>
        <p:txBody>
          <a:bodyPr wrap="square" anchor="t" lIns="0" rIns="0" tIns="0" bIns="0">
            <a:spAutoFit/>
          </a:bodyPr>
          <a:lstStyle/>
          <a:p>
            <a:pPr algn="l">
              <a:lnSpc>
                <a:spcPct val="130000"/>
              </a:lnSpc>
            </a:pPr>
            <a:r>
              <a:rPr sz="950" b="0">
                <a:solidFill>
                  <a:srgbClr val="5D6E64"/>
                </a:solidFill>
                <a:latin typeface="Segoe UI"/>
              </a:rPr>
              <a:t>Combustible principal (deux enquêtes 2014 et 2017) et accès à une cuisson propre, série annuelle</a:t>
            </a:r>
          </a:p>
        </p:txBody>
      </p:sp>
      <p:sp>
        <p:nvSpPr>
          <p:cNvPr id="12" name="TextBox 11"/>
          <p:cNvSpPr txBox="1"/>
          <p:nvPr/>
        </p:nvSpPr>
        <p:spPr>
          <a:xfrm>
            <a:off x="566928" y="2414016"/>
            <a:ext cx="5346039" cy="182880"/>
          </a:xfrm>
          <a:prstGeom prst="rect">
            <a:avLst/>
          </a:prstGeom>
          <a:noFill/>
        </p:spPr>
        <p:txBody>
          <a:bodyPr wrap="square" anchor="t" lIns="0" rIns="0" tIns="0" bIns="0">
            <a:spAutoFit/>
          </a:bodyPr>
          <a:lstStyle/>
          <a:p>
            <a:pPr algn="l">
              <a:lnSpc>
                <a:spcPct val="125000"/>
              </a:lnSpc>
            </a:pPr>
            <a:r>
              <a:rPr sz="1100" b="1">
                <a:solidFill>
                  <a:srgbClr val="0C1A14"/>
                </a:solidFill>
                <a:latin typeface="Segoe UI"/>
              </a:rPr>
              <a:t>Énergies renouvelables</a:t>
            </a:r>
          </a:p>
        </p:txBody>
      </p:sp>
      <p:sp>
        <p:nvSpPr>
          <p:cNvPr id="13" name="TextBox 12"/>
          <p:cNvSpPr txBox="1"/>
          <p:nvPr/>
        </p:nvSpPr>
        <p:spPr>
          <a:xfrm>
            <a:off x="566928" y="2633472"/>
            <a:ext cx="5254599" cy="457200"/>
          </a:xfrm>
          <a:prstGeom prst="rect">
            <a:avLst/>
          </a:prstGeom>
          <a:noFill/>
        </p:spPr>
        <p:txBody>
          <a:bodyPr wrap="square" anchor="t" lIns="0" rIns="0" tIns="0" bIns="0">
            <a:spAutoFit/>
          </a:bodyPr>
          <a:lstStyle/>
          <a:p>
            <a:pPr algn="l">
              <a:lnSpc>
                <a:spcPct val="130000"/>
              </a:lnSpc>
            </a:pPr>
            <a:r>
              <a:rPr sz="950" b="0">
                <a:solidFill>
                  <a:srgbClr val="5D6E64"/>
                </a:solidFill>
                <a:latin typeface="Segoe UI"/>
              </a:rPr>
              <a:t>Part des renouvelables dans la consommation finale, croisée avec la cuisson propre</a:t>
            </a:r>
          </a:p>
        </p:txBody>
      </p:sp>
      <p:sp>
        <p:nvSpPr>
          <p:cNvPr id="14" name="TextBox 13"/>
          <p:cNvSpPr txBox="1"/>
          <p:nvPr/>
        </p:nvSpPr>
        <p:spPr>
          <a:xfrm>
            <a:off x="6205575" y="2414016"/>
            <a:ext cx="5346039" cy="182880"/>
          </a:xfrm>
          <a:prstGeom prst="rect">
            <a:avLst/>
          </a:prstGeom>
          <a:noFill/>
        </p:spPr>
        <p:txBody>
          <a:bodyPr wrap="square" anchor="t" lIns="0" rIns="0" tIns="0" bIns="0">
            <a:spAutoFit/>
          </a:bodyPr>
          <a:lstStyle/>
          <a:p>
            <a:pPr algn="l">
              <a:lnSpc>
                <a:spcPct val="125000"/>
              </a:lnSpc>
            </a:pPr>
            <a:r>
              <a:rPr sz="1100" b="1">
                <a:solidFill>
                  <a:srgbClr val="0C1A14"/>
                </a:solidFill>
                <a:latin typeface="Segoe UI"/>
              </a:rPr>
              <a:t>Couvert forestier</a:t>
            </a:r>
          </a:p>
        </p:txBody>
      </p:sp>
      <p:sp>
        <p:nvSpPr>
          <p:cNvPr id="15" name="TextBox 14"/>
          <p:cNvSpPr txBox="1"/>
          <p:nvPr/>
        </p:nvSpPr>
        <p:spPr>
          <a:xfrm>
            <a:off x="6205575" y="2633472"/>
            <a:ext cx="5254599" cy="457200"/>
          </a:xfrm>
          <a:prstGeom prst="rect">
            <a:avLst/>
          </a:prstGeom>
          <a:noFill/>
        </p:spPr>
        <p:txBody>
          <a:bodyPr wrap="square" anchor="t" lIns="0" rIns="0" tIns="0" bIns="0">
            <a:spAutoFit/>
          </a:bodyPr>
          <a:lstStyle/>
          <a:p>
            <a:pPr algn="l">
              <a:lnSpc>
                <a:spcPct val="130000"/>
              </a:lnSpc>
            </a:pPr>
            <a:r>
              <a:rPr sz="950" b="0">
                <a:solidFill>
                  <a:srgbClr val="5D6E64"/>
                </a:solidFill>
                <a:latin typeface="Segoe UI"/>
              </a:rPr>
              <a:t>Surface forestière · 1990–2021 · % du territoire et km²</a:t>
            </a:r>
          </a:p>
        </p:txBody>
      </p:sp>
      <p:sp>
        <p:nvSpPr>
          <p:cNvPr id="16" name="TextBox 15"/>
          <p:cNvSpPr txBox="1"/>
          <p:nvPr/>
        </p:nvSpPr>
        <p:spPr>
          <a:xfrm>
            <a:off x="566928" y="3255264"/>
            <a:ext cx="5346039" cy="182880"/>
          </a:xfrm>
          <a:prstGeom prst="rect">
            <a:avLst/>
          </a:prstGeom>
          <a:noFill/>
        </p:spPr>
        <p:txBody>
          <a:bodyPr wrap="square" anchor="t" lIns="0" rIns="0" tIns="0" bIns="0">
            <a:spAutoFit/>
          </a:bodyPr>
          <a:lstStyle/>
          <a:p>
            <a:pPr algn="l">
              <a:lnSpc>
                <a:spcPct val="125000"/>
              </a:lnSpc>
            </a:pPr>
            <a:r>
              <a:rPr sz="1100" b="1">
                <a:solidFill>
                  <a:srgbClr val="0C1A14"/>
                </a:solidFill>
                <a:latin typeface="Segoe UI"/>
              </a:rPr>
              <a:t>Inventaire GES 2018</a:t>
            </a:r>
          </a:p>
        </p:txBody>
      </p:sp>
      <p:sp>
        <p:nvSpPr>
          <p:cNvPr id="17" name="TextBox 16"/>
          <p:cNvSpPr txBox="1"/>
          <p:nvPr/>
        </p:nvSpPr>
        <p:spPr>
          <a:xfrm>
            <a:off x="566928" y="3474720"/>
            <a:ext cx="5254599" cy="457200"/>
          </a:xfrm>
          <a:prstGeom prst="rect">
            <a:avLst/>
          </a:prstGeom>
          <a:noFill/>
        </p:spPr>
        <p:txBody>
          <a:bodyPr wrap="square" anchor="t" lIns="0" rIns="0" tIns="0" bIns="0">
            <a:spAutoFit/>
          </a:bodyPr>
          <a:lstStyle/>
          <a:p>
            <a:pPr algn="l">
              <a:lnSpc>
                <a:spcPct val="130000"/>
              </a:lnSpc>
            </a:pPr>
            <a:r>
              <a:rPr sz="950" b="0">
                <a:solidFill>
                  <a:srgbClr val="5D6E64"/>
                </a:solidFill>
                <a:latin typeface="Segoe UI"/>
              </a:rPr>
              <a:t>Émissions par secteur et par gaz, relues en équivalent CO₂ (PRG 100 ans, AR5)</a:t>
            </a:r>
          </a:p>
        </p:txBody>
      </p:sp>
      <p:sp>
        <p:nvSpPr>
          <p:cNvPr id="18" name="TextBox 17"/>
          <p:cNvSpPr txBox="1"/>
          <p:nvPr/>
        </p:nvSpPr>
        <p:spPr>
          <a:xfrm>
            <a:off x="6205575" y="3255264"/>
            <a:ext cx="5346039" cy="182880"/>
          </a:xfrm>
          <a:prstGeom prst="rect">
            <a:avLst/>
          </a:prstGeom>
          <a:noFill/>
        </p:spPr>
        <p:txBody>
          <a:bodyPr wrap="square" anchor="t" lIns="0" rIns="0" tIns="0" bIns="0">
            <a:spAutoFit/>
          </a:bodyPr>
          <a:lstStyle/>
          <a:p>
            <a:pPr algn="l">
              <a:lnSpc>
                <a:spcPct val="125000"/>
              </a:lnSpc>
            </a:pPr>
            <a:r>
              <a:rPr sz="1100" b="1">
                <a:solidFill>
                  <a:srgbClr val="0C1A14"/>
                </a:solidFill>
                <a:latin typeface="Segoe UI"/>
              </a:rPr>
              <a:t>Forêts classées &amp; climat</a:t>
            </a:r>
          </a:p>
        </p:txBody>
      </p:sp>
      <p:sp>
        <p:nvSpPr>
          <p:cNvPr id="19" name="TextBox 18"/>
          <p:cNvSpPr txBox="1"/>
          <p:nvPr/>
        </p:nvSpPr>
        <p:spPr>
          <a:xfrm>
            <a:off x="6205575" y="3474720"/>
            <a:ext cx="5254599" cy="457200"/>
          </a:xfrm>
          <a:prstGeom prst="rect">
            <a:avLst/>
          </a:prstGeom>
          <a:noFill/>
        </p:spPr>
        <p:txBody>
          <a:bodyPr wrap="square" anchor="t" lIns="0" rIns="0" tIns="0" bIns="0">
            <a:spAutoFit/>
          </a:bodyPr>
          <a:lstStyle/>
          <a:p>
            <a:pPr algn="l">
              <a:lnSpc>
                <a:spcPct val="130000"/>
              </a:lnSpc>
            </a:pPr>
            <a:r>
              <a:rPr sz="950" b="0">
                <a:solidFill>
                  <a:srgbClr val="5D6E64"/>
                </a:solidFill>
                <a:latin typeface="Segoe UI"/>
              </a:rPr>
              <a:t>53 forêts classées (surface, enclavement) et 10 stations météorologiques 2013-2019</a:t>
            </a:r>
          </a:p>
        </p:txBody>
      </p:sp>
      <p:sp>
        <p:nvSpPr>
          <p:cNvPr id="20" name="Rounded Rectangle 19"/>
          <p:cNvSpPr/>
          <p:nvPr/>
        </p:nvSpPr>
        <p:spPr>
          <a:xfrm>
            <a:off x="566928" y="4343400"/>
            <a:ext cx="11057839" cy="1737360"/>
          </a:xfrm>
          <a:prstGeom prst="roundRect">
            <a:avLst>
              <a:gd name="adj" fmla="val 5000"/>
            </a:avLst>
          </a:prstGeom>
          <a:solidFill>
            <a:srgbClr val="E7F2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9808" y="4480560"/>
            <a:ext cx="10692079" cy="164592"/>
          </a:xfrm>
          <a:prstGeom prst="rect">
            <a:avLst/>
          </a:prstGeom>
          <a:noFill/>
        </p:spPr>
        <p:txBody>
          <a:bodyPr wrap="square" anchor="t" lIns="0" rIns="0" tIns="0" bIns="0">
            <a:spAutoFit/>
          </a:bodyPr>
          <a:lstStyle/>
          <a:p>
            <a:pPr algn="l">
              <a:lnSpc>
                <a:spcPct val="125000"/>
              </a:lnSpc>
            </a:pPr>
            <a:r>
              <a:rPr sz="850" b="1" spc="60">
                <a:solidFill>
                  <a:srgbClr val="0F7A4A"/>
                </a:solidFill>
                <a:latin typeface="Segoe UI"/>
              </a:rPr>
              <a:t>CE QUE CES DONNÉES NE PERMETTENT PAS DE DIRE</a:t>
            </a:r>
          </a:p>
        </p:txBody>
      </p:sp>
      <p:sp>
        <p:nvSpPr>
          <p:cNvPr id="22" name="TextBox 21"/>
          <p:cNvSpPr txBox="1"/>
          <p:nvPr/>
        </p:nvSpPr>
        <p:spPr>
          <a:xfrm>
            <a:off x="749808" y="4709160"/>
            <a:ext cx="10692079" cy="1280160"/>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Aucun coût ni budget dans les données : les recommandations portent sur un ordre de priorité et des cibles physiques, pas sur un plan de financement.   ·   La cuisson n'est mesurée directement qu'en 2014 et 2017 : on lit un contraste, pas une tendance.   ·   La part du recul forestier imputable au bois-énergie n'est tranchée par aucune source : elle reste un curseur explicite dans le tableau de bord.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LA PREUVE</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L'accès progresse, la forêt recule, la cuisson ne bouge pas</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4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graphicFrame>
        <p:nvGraphicFramePr>
          <p:cNvPr id="8" name="Chart 7"/>
          <p:cNvGraphicFramePr>
            <a:graphicFrameLocks noGrp="1"/>
          </p:cNvGraphicFramePr>
          <p:nvPr/>
        </p:nvGraphicFramePr>
        <p:xfrm>
          <a:off x="566928" y="1572768"/>
          <a:ext cx="11057839" cy="2240280"/>
        </p:xfrm>
        <a:graphic>
          <a:graphicData uri="http://schemas.openxmlformats.org/drawingml/2006/chart">
            <c:chart xmlns:c="http://schemas.openxmlformats.org/drawingml/2006/chart" r:id="rId3"/>
          </a:graphicData>
        </a:graphic>
      </p:graphicFrame>
      <p:graphicFrame>
        <p:nvGraphicFramePr>
          <p:cNvPr id="9" name="Chart 8"/>
          <p:cNvGraphicFramePr>
            <a:graphicFrameLocks noGrp="1"/>
          </p:cNvGraphicFramePr>
          <p:nvPr/>
        </p:nvGraphicFramePr>
        <p:xfrm>
          <a:off x="566928" y="3877056"/>
          <a:ext cx="11057839" cy="1700784"/>
        </p:xfrm>
        <a:graphic>
          <a:graphicData uri="http://schemas.openxmlformats.org/drawingml/2006/chart">
            <c:chart xmlns:c="http://schemas.openxmlformats.org/drawingml/2006/chart" r:id="rId4"/>
          </a:graphicData>
        </a:graphic>
      </p:graphicFrame>
      <p:sp>
        <p:nvSpPr>
          <p:cNvPr id="10" name="TextBox 9"/>
          <p:cNvSpPr txBox="1"/>
          <p:nvPr/>
        </p:nvSpPr>
        <p:spPr>
          <a:xfrm>
            <a:off x="566928" y="5632704"/>
            <a:ext cx="11057839" cy="640080"/>
          </a:xfrm>
          <a:prstGeom prst="rect">
            <a:avLst/>
          </a:prstGeom>
          <a:noFill/>
        </p:spPr>
        <p:txBody>
          <a:bodyPr wrap="square" anchor="t" lIns="0" rIns="0" tIns="0" bIns="0">
            <a:spAutoFit/>
          </a:bodyPr>
          <a:lstStyle/>
          <a:p>
            <a:pPr algn="l">
              <a:lnSpc>
                <a:spcPct val="135000"/>
              </a:lnSpc>
            </a:pPr>
            <a:r>
              <a:rPr sz="1050" b="0">
                <a:solidFill>
                  <a:srgbClr val="324239"/>
                </a:solidFill>
                <a:latin typeface="Segoe UI"/>
              </a:rPr>
              <a:t>Deux panneaux, un seul axe du temps : chaque série garde son échelle. Le couvert passe de 23,7 % à 22,2 % du territoire pendant que l'accès rural est multiplié par 8 — et que la cuisson propre reste à 0,9 %. L'électricité éclaire les foyers, elle ne remplace pas le bois dans les marmites.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ÉLECTRIFICATION</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Au rythme observé, l'accès universel rural tombe en 2104</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5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graphicFrame>
        <p:nvGraphicFramePr>
          <p:cNvPr id="8" name="Chart 7"/>
          <p:cNvGraphicFramePr>
            <a:graphicFrameLocks noGrp="1"/>
          </p:cNvGraphicFramePr>
          <p:nvPr/>
        </p:nvGraphicFramePr>
        <p:xfrm>
          <a:off x="566928" y="1572768"/>
          <a:ext cx="6858000" cy="3108960"/>
        </p:xfrm>
        <a:graphic>
          <a:graphicData uri="http://schemas.openxmlformats.org/drawingml/2006/chart">
            <c:chart xmlns:c="http://schemas.openxmlformats.org/drawingml/2006/chart" r:id="rId3"/>
          </a:graphicData>
        </a:graphic>
      </p:graphicFrame>
      <p:sp>
        <p:nvSpPr>
          <p:cNvPr id="9" name="Rounded Rectangle 8"/>
          <p:cNvSpPr/>
          <p:nvPr/>
        </p:nvSpPr>
        <p:spPr>
          <a:xfrm>
            <a:off x="7699248" y="1572768"/>
            <a:ext cx="3925519" cy="137160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54696" y="1709928"/>
            <a:ext cx="3614623"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ÉCART VILLE / CAMPAGNE</a:t>
            </a:r>
          </a:p>
        </p:txBody>
      </p:sp>
      <p:sp>
        <p:nvSpPr>
          <p:cNvPr id="11" name="TextBox 10"/>
          <p:cNvSpPr txBox="1"/>
          <p:nvPr/>
        </p:nvSpPr>
        <p:spPr>
          <a:xfrm>
            <a:off x="7854696" y="1938528"/>
            <a:ext cx="3614623"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72</a:t>
            </a:r>
            <a:r>
              <a:rPr sz="2600" b="1">
                <a:solidFill>
                  <a:srgbClr val="B32418"/>
                </a:solidFill>
                <a:latin typeface="Segoe UI"/>
              </a:rPr>
              <a:t> points</a:t>
            </a:r>
          </a:p>
        </p:txBody>
      </p:sp>
      <p:sp>
        <p:nvSpPr>
          <p:cNvPr id="12" name="TextBox 11"/>
          <p:cNvSpPr txBox="1"/>
          <p:nvPr/>
        </p:nvSpPr>
        <p:spPr>
          <a:xfrm>
            <a:off x="7854696" y="2414016"/>
            <a:ext cx="3614623" cy="438912"/>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96 % contre 25 % en 2022</a:t>
            </a:r>
          </a:p>
        </p:txBody>
      </p:sp>
      <p:sp>
        <p:nvSpPr>
          <p:cNvPr id="13" name="Rounded Rectangle 12"/>
          <p:cNvSpPr/>
          <p:nvPr/>
        </p:nvSpPr>
        <p:spPr>
          <a:xfrm>
            <a:off x="7699248" y="3054096"/>
            <a:ext cx="3925519" cy="1627632"/>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54696" y="3191256"/>
            <a:ext cx="3614623"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COUPURES SUBIES PAR LES ENTREPRISES</a:t>
            </a:r>
          </a:p>
        </p:txBody>
      </p:sp>
      <p:sp>
        <p:nvSpPr>
          <p:cNvPr id="15" name="TextBox 14"/>
          <p:cNvSpPr txBox="1"/>
          <p:nvPr/>
        </p:nvSpPr>
        <p:spPr>
          <a:xfrm>
            <a:off x="7854696" y="3419856"/>
            <a:ext cx="3614623"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5,5</a:t>
            </a:r>
            <a:r>
              <a:rPr sz="2600" b="1">
                <a:solidFill>
                  <a:srgbClr val="B32418"/>
                </a:solidFill>
                <a:latin typeface="Segoe UI"/>
              </a:rPr>
              <a:t> /mois</a:t>
            </a:r>
          </a:p>
        </p:txBody>
      </p:sp>
      <p:sp>
        <p:nvSpPr>
          <p:cNvPr id="16" name="TextBox 15"/>
          <p:cNvSpPr txBox="1"/>
          <p:nvPr/>
        </p:nvSpPr>
        <p:spPr>
          <a:xfrm>
            <a:off x="7854696" y="3895344"/>
            <a:ext cx="3614623" cy="694944"/>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94 % des entreprises touchées en 2016, contre 80 % en 2009</a:t>
            </a:r>
          </a:p>
        </p:txBody>
      </p:sp>
      <p:sp>
        <p:nvSpPr>
          <p:cNvPr id="17" name="Rounded Rectangle 16"/>
          <p:cNvSpPr/>
          <p:nvPr/>
        </p:nvSpPr>
        <p:spPr>
          <a:xfrm>
            <a:off x="566928" y="4828032"/>
            <a:ext cx="11057839" cy="1371600"/>
          </a:xfrm>
          <a:prstGeom prst="roundRect">
            <a:avLst>
              <a:gd name="adj" fmla="val 5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49808" y="4965192"/>
            <a:ext cx="10692079" cy="164592"/>
          </a:xfrm>
          <a:prstGeom prst="rect">
            <a:avLst/>
          </a:prstGeom>
          <a:noFill/>
        </p:spPr>
        <p:txBody>
          <a:bodyPr wrap="square" anchor="t" lIns="0" rIns="0" tIns="0" bIns="0">
            <a:spAutoFit/>
          </a:bodyPr>
          <a:lstStyle/>
          <a:p>
            <a:pPr algn="l">
              <a:lnSpc>
                <a:spcPct val="125000"/>
              </a:lnSpc>
            </a:pPr>
            <a:r>
              <a:rPr sz="850" b="1" spc="60">
                <a:solidFill>
                  <a:srgbClr val="B87407"/>
                </a:solidFill>
                <a:latin typeface="Segoe UI"/>
              </a:rPr>
              <a:t>DÉCISION</a:t>
            </a:r>
          </a:p>
        </p:txBody>
      </p:sp>
      <p:sp>
        <p:nvSpPr>
          <p:cNvPr id="19" name="TextBox 18"/>
          <p:cNvSpPr txBox="1"/>
          <p:nvPr/>
        </p:nvSpPr>
        <p:spPr>
          <a:xfrm>
            <a:off x="749808" y="5193792"/>
            <a:ext cx="10692079" cy="914400"/>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Un facteur d'accélération de cet ordre ne s'obtient pas en prolongeant le réseau, dont le coût au raccordement croît avec la distance. Il s'obtient par le solaire décentralisé — mini-réseaux et kits domestiques — déployable sans attendre la ligne moyenne tension. Second argument : le réseau s'est étendu plus vite qu'il ne s'est consolidé, la part d'entreprises subissant des coupures a augmenté.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CUISSON</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Le bois de feu n'est pas une énergie du passé : sa part augmente</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6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graphicFrame>
        <p:nvGraphicFramePr>
          <p:cNvPr id="8" name="Chart 7"/>
          <p:cNvGraphicFramePr>
            <a:graphicFrameLocks noGrp="1"/>
          </p:cNvGraphicFramePr>
          <p:nvPr/>
        </p:nvGraphicFramePr>
        <p:xfrm>
          <a:off x="566928" y="1572768"/>
          <a:ext cx="6858000" cy="3200400"/>
        </p:xfrm>
        <a:graphic>
          <a:graphicData uri="http://schemas.openxmlformats.org/drawingml/2006/chart">
            <c:chart xmlns:c="http://schemas.openxmlformats.org/drawingml/2006/chart" r:id="rId3"/>
          </a:graphicData>
        </a:graphic>
      </p:graphicFrame>
      <p:sp>
        <p:nvSpPr>
          <p:cNvPr id="9" name="Rounded Rectangle 8"/>
          <p:cNvSpPr/>
          <p:nvPr/>
        </p:nvSpPr>
        <p:spPr>
          <a:xfrm>
            <a:off x="7699248" y="1572768"/>
            <a:ext cx="3925519" cy="15544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54696" y="1709928"/>
            <a:ext cx="3614623"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BOIS BRUT, ENTRE LES DEUX ENQUÊTES</a:t>
            </a:r>
          </a:p>
        </p:txBody>
      </p:sp>
      <p:sp>
        <p:nvSpPr>
          <p:cNvPr id="11" name="TextBox 10"/>
          <p:cNvSpPr txBox="1"/>
          <p:nvPr/>
        </p:nvSpPr>
        <p:spPr>
          <a:xfrm>
            <a:off x="7854696" y="1938528"/>
            <a:ext cx="3614623"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+3,6</a:t>
            </a:r>
            <a:r>
              <a:rPr sz="2600" b="1">
                <a:solidFill>
                  <a:srgbClr val="B32418"/>
                </a:solidFill>
                <a:latin typeface="Segoe UI"/>
              </a:rPr>
              <a:t> points</a:t>
            </a:r>
          </a:p>
        </p:txBody>
      </p:sp>
      <p:sp>
        <p:nvSpPr>
          <p:cNvPr id="12" name="TextBox 11"/>
          <p:cNvSpPr txBox="1"/>
          <p:nvPr/>
        </p:nvSpPr>
        <p:spPr>
          <a:xfrm>
            <a:off x="7854696" y="2414016"/>
            <a:ext cx="3614623" cy="621792"/>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de 48,2 % à 51,8 % des ménages, quand le charbon perd 4,5 points</a:t>
            </a:r>
          </a:p>
        </p:txBody>
      </p:sp>
      <p:sp>
        <p:nvSpPr>
          <p:cNvPr id="13" name="Rounded Rectangle 12"/>
          <p:cNvSpPr/>
          <p:nvPr/>
        </p:nvSpPr>
        <p:spPr>
          <a:xfrm>
            <a:off x="7699248" y="3236976"/>
            <a:ext cx="3925519" cy="15544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54696" y="3374136"/>
            <a:ext cx="3614623"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MORTALITÉ ATTRIBUÉE À LA POLLUTION DE L'AIR</a:t>
            </a:r>
          </a:p>
        </p:txBody>
      </p:sp>
      <p:sp>
        <p:nvSpPr>
          <p:cNvPr id="15" name="TextBox 14"/>
          <p:cNvSpPr txBox="1"/>
          <p:nvPr/>
        </p:nvSpPr>
        <p:spPr>
          <a:xfrm>
            <a:off x="7854696" y="3602736"/>
            <a:ext cx="3614623"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223</a:t>
            </a:r>
            <a:r>
              <a:rPr sz="2600" b="1">
                <a:solidFill>
                  <a:srgbClr val="B32418"/>
                </a:solidFill>
                <a:latin typeface="Segoe UI"/>
              </a:rPr>
              <a:t/>
            </a:r>
          </a:p>
        </p:txBody>
      </p:sp>
      <p:sp>
        <p:nvSpPr>
          <p:cNvPr id="16" name="TextBox 15"/>
          <p:cNvSpPr txBox="1"/>
          <p:nvPr/>
        </p:nvSpPr>
        <p:spPr>
          <a:xfrm>
            <a:off x="7854696" y="4078224"/>
            <a:ext cx="3614623" cy="621792"/>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décès pour 100 000 habitants (2019) · PM2,5 à 52 µg/m³, soit × 10 la ligne directrice OMS</a:t>
            </a:r>
          </a:p>
        </p:txBody>
      </p:sp>
      <p:sp>
        <p:nvSpPr>
          <p:cNvPr id="17" name="Rounded Rectangle 16"/>
          <p:cNvSpPr/>
          <p:nvPr/>
        </p:nvSpPr>
        <p:spPr>
          <a:xfrm>
            <a:off x="566928" y="4892040"/>
            <a:ext cx="11057839" cy="1280160"/>
          </a:xfrm>
          <a:prstGeom prst="roundRect">
            <a:avLst>
              <a:gd name="adj" fmla="val 5000"/>
            </a:avLst>
          </a:prstGeom>
          <a:solidFill>
            <a:srgbClr val="FB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49808" y="5029200"/>
            <a:ext cx="10692079" cy="164592"/>
          </a:xfrm>
          <a:prstGeom prst="rect">
            <a:avLst/>
          </a:prstGeom>
          <a:noFill/>
        </p:spPr>
        <p:txBody>
          <a:bodyPr wrap="square" anchor="t" lIns="0" rIns="0" tIns="0" bIns="0">
            <a:spAutoFit/>
          </a:bodyPr>
          <a:lstStyle/>
          <a:p>
            <a:pPr algn="l">
              <a:lnSpc>
                <a:spcPct val="125000"/>
              </a:lnSpc>
            </a:pPr>
            <a:r>
              <a:rPr sz="850" b="1" spc="60">
                <a:solidFill>
                  <a:srgbClr val="B32418"/>
                </a:solidFill>
                <a:latin typeface="Segoe UI"/>
              </a:rPr>
              <a:t>ALERTE</a:t>
            </a:r>
          </a:p>
        </p:txBody>
      </p:sp>
      <p:sp>
        <p:nvSpPr>
          <p:cNvPr id="19" name="TextBox 18"/>
          <p:cNvSpPr txBox="1"/>
          <p:nvPr/>
        </p:nvSpPr>
        <p:spPr>
          <a:xfrm>
            <a:off x="749808" y="5257800"/>
            <a:ext cx="10692079" cy="822960"/>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La transition n'a pas commencé, elle a reculé. Le mouvement observé est un glissement du charbon vers le bois brut — le combustible le plus émetteur de particules à l'intérieur des habitations — pendant que le total biomasse reste à 89 % des ménages.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L'INDICATEUR TROMPEUR</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 Renouvelable » ne veut pas dire « propre »</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7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graphicFrame>
        <p:nvGraphicFramePr>
          <p:cNvPr id="8" name="Chart 7"/>
          <p:cNvGraphicFramePr>
            <a:graphicFrameLocks noGrp="1"/>
          </p:cNvGraphicFramePr>
          <p:nvPr/>
        </p:nvGraphicFramePr>
        <p:xfrm>
          <a:off x="566928" y="1572768"/>
          <a:ext cx="6858000" cy="3200400"/>
        </p:xfrm>
        <a:graphic>
          <a:graphicData uri="http://schemas.openxmlformats.org/drawingml/2006/chart">
            <c:chart xmlns:c="http://schemas.openxmlformats.org/drawingml/2006/chart" r:id="rId3"/>
          </a:graphicData>
        </a:graphic>
      </p:graphicFrame>
      <p:sp>
        <p:nvSpPr>
          <p:cNvPr id="9" name="TextBox 8"/>
          <p:cNvSpPr txBox="1"/>
          <p:nvPr/>
        </p:nvSpPr>
        <p:spPr>
          <a:xfrm>
            <a:off x="7699248" y="1609344"/>
            <a:ext cx="3925519" cy="3017520"/>
          </a:xfrm>
          <a:prstGeom prst="rect">
            <a:avLst/>
          </a:prstGeom>
          <a:noFill/>
        </p:spPr>
        <p:txBody>
          <a:bodyPr wrap="square" anchor="t" lIns="0" rIns="0" tIns="0" bIns="0">
            <a:spAutoFit/>
          </a:bodyPr>
          <a:lstStyle/>
          <a:p>
            <a:pPr algn="l">
              <a:lnSpc>
                <a:spcPct val="140000"/>
              </a:lnSpc>
            </a:pPr>
            <a:r>
              <a:rPr sz="1150" b="0">
                <a:solidFill>
                  <a:srgbClr val="324239"/>
                </a:solidFill>
                <a:latin typeface="Segoe UI"/>
              </a:rPr>
              <a:t>En 2021, 75,1 % de l'énergie finale consommée au Togo est comptée comme renouvelable — un taux que peu de pays affichent.</a:t>
            </a:r>
          </a:p>
          <a:p>
            <a:pPr algn="l">
              <a:lnSpc>
                <a:spcPct val="140000"/>
              </a:lnSpc>
              <a:spcBef>
                <a:spcPts val="600"/>
              </a:spcBef>
            </a:pPr>
            <a:r>
              <a:rPr sz="1150" b="0">
                <a:solidFill>
                  <a:srgbClr val="324239"/>
                </a:solidFill>
                <a:latin typeface="Segoe UI"/>
              </a:rPr>
              <a:t>Au même moment, 11,9 % des ménages seulement cuisinent proprement.</a:t>
            </a:r>
          </a:p>
          <a:p>
            <a:pPr algn="l">
              <a:lnSpc>
                <a:spcPct val="140000"/>
              </a:lnSpc>
              <a:spcBef>
                <a:spcPts val="600"/>
              </a:spcBef>
            </a:pPr>
            <a:r>
              <a:rPr sz="1150" b="0">
                <a:solidFill>
                  <a:srgbClr val="324239"/>
                </a:solidFill>
                <a:latin typeface="Segoe UI"/>
              </a:rPr>
              <a:t>L'écart entre les deux courbes, c'est la biomasse brûlée dans les foyers : du bois et du charbon prélevés plus vite qu'ils ne se régénèrent, brûlés sans évacuation des fumées.</a:t>
            </a:r>
          </a:p>
        </p:txBody>
      </p:sp>
      <p:sp>
        <p:nvSpPr>
          <p:cNvPr id="10" name="Rounded Rectangle 9"/>
          <p:cNvSpPr/>
          <p:nvPr/>
        </p:nvSpPr>
        <p:spPr>
          <a:xfrm>
            <a:off x="566928" y="4892040"/>
            <a:ext cx="11057839" cy="1280160"/>
          </a:xfrm>
          <a:prstGeom prst="roundRect">
            <a:avLst>
              <a:gd name="adj" fmla="val 5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49808" y="5029200"/>
            <a:ext cx="10692079" cy="164592"/>
          </a:xfrm>
          <a:prstGeom prst="rect">
            <a:avLst/>
          </a:prstGeom>
          <a:noFill/>
        </p:spPr>
        <p:txBody>
          <a:bodyPr wrap="square" anchor="t" lIns="0" rIns="0" tIns="0" bIns="0">
            <a:spAutoFit/>
          </a:bodyPr>
          <a:lstStyle/>
          <a:p>
            <a:pPr algn="l">
              <a:lnSpc>
                <a:spcPct val="125000"/>
              </a:lnSpc>
            </a:pPr>
            <a:r>
              <a:rPr sz="850" b="1" spc="60">
                <a:solidFill>
                  <a:srgbClr val="B87407"/>
                </a:solidFill>
                <a:latin typeface="Segoe UI"/>
              </a:rPr>
              <a:t>DÉCISION</a:t>
            </a:r>
          </a:p>
        </p:txBody>
      </p:sp>
      <p:sp>
        <p:nvSpPr>
          <p:cNvPr id="12" name="TextBox 11"/>
          <p:cNvSpPr txBox="1"/>
          <p:nvPr/>
        </p:nvSpPr>
        <p:spPr>
          <a:xfrm>
            <a:off x="749808" y="5257800"/>
            <a:ext cx="10692079" cy="822960"/>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Conséquence de pilotage : le taux d'énergie renouvelable est un mauvais indicateur de suivi pour la transition togolaise — il baissera mécaniquement quand les ménages passeront au GPL ou à l'électricité, c'est-à-dire quand la situation s'améliorera. Les indicateurs à suivre sont l'accès à la cuisson propre et la part des ménages sortis de la biomasse.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INVENTAIRE DES ÉMISSIONS</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Le secteur énergie n'est marginal que si l'on ne regarde que le CO₂</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8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graphicFrame>
        <p:nvGraphicFramePr>
          <p:cNvPr id="8" name="Chart 7"/>
          <p:cNvGraphicFramePr>
            <a:graphicFrameLocks noGrp="1"/>
          </p:cNvGraphicFramePr>
          <p:nvPr/>
        </p:nvGraphicFramePr>
        <p:xfrm>
          <a:off x="566928" y="1572768"/>
          <a:ext cx="6858000" cy="3200400"/>
        </p:xfrm>
        <a:graphic>
          <a:graphicData uri="http://schemas.openxmlformats.org/drawingml/2006/chart">
            <c:chart xmlns:c="http://schemas.openxmlformats.org/drawingml/2006/chart" r:id="rId3"/>
          </a:graphicData>
        </a:graphic>
      </p:graphicFrame>
      <p:sp>
        <p:nvSpPr>
          <p:cNvPr id="9" name="Rounded Rectangle 8"/>
          <p:cNvSpPr/>
          <p:nvPr/>
        </p:nvSpPr>
        <p:spPr>
          <a:xfrm>
            <a:off x="7699248" y="1572768"/>
            <a:ext cx="3925519" cy="15544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54696" y="1709928"/>
            <a:ext cx="3614623"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LE SECTEUR ÉNERGIE, SELON L'UNITÉ DE LECTURE</a:t>
            </a:r>
          </a:p>
        </p:txBody>
      </p:sp>
      <p:sp>
        <p:nvSpPr>
          <p:cNvPr id="11" name="TextBox 10"/>
          <p:cNvSpPr txBox="1"/>
          <p:nvPr/>
        </p:nvSpPr>
        <p:spPr>
          <a:xfrm>
            <a:off x="7854696" y="1938528"/>
            <a:ext cx="3614623"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6 → 27</a:t>
            </a:r>
            <a:r>
              <a:rPr sz="2600" b="1">
                <a:solidFill>
                  <a:srgbClr val="B32418"/>
                </a:solidFill>
                <a:latin typeface="Segoe UI"/>
              </a:rPr>
              <a:t> %</a:t>
            </a:r>
          </a:p>
        </p:txBody>
      </p:sp>
      <p:sp>
        <p:nvSpPr>
          <p:cNvPr id="12" name="TextBox 11"/>
          <p:cNvSpPr txBox="1"/>
          <p:nvPr/>
        </p:nvSpPr>
        <p:spPr>
          <a:xfrm>
            <a:off x="7854696" y="2414016"/>
            <a:ext cx="3614623" cy="621792"/>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des émissions nationales : la même année, le même inventaire, deux classements différents</a:t>
            </a:r>
          </a:p>
        </p:txBody>
      </p:sp>
      <p:sp>
        <p:nvSpPr>
          <p:cNvPr id="13" name="Rounded Rectangle 12"/>
          <p:cNvSpPr/>
          <p:nvPr/>
        </p:nvSpPr>
        <p:spPr>
          <a:xfrm>
            <a:off x="7699248" y="3236976"/>
            <a:ext cx="3925519" cy="15544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54696" y="3374136"/>
            <a:ext cx="3614623" cy="182880"/>
          </a:xfrm>
          <a:prstGeom prst="rect">
            <a:avLst/>
          </a:prstGeom>
          <a:noFill/>
        </p:spPr>
        <p:txBody>
          <a:bodyPr wrap="square" anchor="t" lIns="0" rIns="0" tIns="0" bIns="0">
            <a:spAutoFit/>
          </a:bodyPr>
          <a:lstStyle/>
          <a:p>
            <a:pPr algn="l">
              <a:lnSpc>
                <a:spcPct val="125000"/>
              </a:lnSpc>
            </a:pPr>
            <a:r>
              <a:rPr sz="800" b="1" spc="50">
                <a:solidFill>
                  <a:srgbClr val="0C1A14"/>
                </a:solidFill>
                <a:latin typeface="Segoe UI"/>
              </a:rPr>
              <a:t>PART DE L'ÉNERGIE DANS LES GAZ LES PLUS RÉCHAUFFANTS</a:t>
            </a:r>
          </a:p>
        </p:txBody>
      </p:sp>
      <p:sp>
        <p:nvSpPr>
          <p:cNvPr id="15" name="TextBox 14"/>
          <p:cNvSpPr txBox="1"/>
          <p:nvPr/>
        </p:nvSpPr>
        <p:spPr>
          <a:xfrm>
            <a:off x="7854696" y="3602736"/>
            <a:ext cx="3614623" cy="411480"/>
          </a:xfrm>
          <a:prstGeom prst="rect">
            <a:avLst/>
          </a:prstGeom>
          <a:noFill/>
        </p:spPr>
        <p:txBody>
          <a:bodyPr wrap="square" anchor="t" lIns="0" rIns="0" tIns="0" bIns="0">
            <a:spAutoFit/>
          </a:bodyPr>
          <a:lstStyle/>
          <a:p>
            <a:pPr algn="l">
              <a:lnSpc>
                <a:spcPct val="100000"/>
              </a:lnSpc>
            </a:pPr>
            <a:r>
              <a:rPr sz="2600" b="1">
                <a:solidFill>
                  <a:srgbClr val="B32418"/>
                </a:solidFill>
                <a:latin typeface="Segoe UI"/>
              </a:rPr>
              <a:t>57</a:t>
            </a:r>
            <a:r>
              <a:rPr sz="2600" b="1">
                <a:solidFill>
                  <a:srgbClr val="B32418"/>
                </a:solidFill>
                <a:latin typeface="Segoe UI"/>
              </a:rPr>
              <a:t> %</a:t>
            </a:r>
          </a:p>
        </p:txBody>
      </p:sp>
      <p:sp>
        <p:nvSpPr>
          <p:cNvPr id="16" name="TextBox 15"/>
          <p:cNvSpPr txBox="1"/>
          <p:nvPr/>
        </p:nvSpPr>
        <p:spPr>
          <a:xfrm>
            <a:off x="7854696" y="4078224"/>
            <a:ext cx="3614623" cy="621792"/>
          </a:xfrm>
          <a:prstGeom prst="rect">
            <a:avLst/>
          </a:prstGeom>
          <a:noFill/>
        </p:spPr>
        <p:txBody>
          <a:bodyPr wrap="square" anchor="t" lIns="0" rIns="0" tIns="0" bIns="0">
            <a:spAutoFit/>
          </a:bodyPr>
          <a:lstStyle/>
          <a:p>
            <a:pPr algn="l">
              <a:lnSpc>
                <a:spcPct val="130000"/>
              </a:lnSpc>
            </a:pPr>
            <a:r>
              <a:rPr sz="850" b="0">
                <a:solidFill>
                  <a:srgbClr val="5D6E64"/>
                </a:solidFill>
                <a:latin typeface="Segoe UI"/>
              </a:rPr>
              <a:t>du protoxyde d'azote et 23 % du méthane du pays — deux gaz de combustion incomplète de biomasse</a:t>
            </a:r>
          </a:p>
        </p:txBody>
      </p:sp>
      <p:sp>
        <p:nvSpPr>
          <p:cNvPr id="17" name="Rounded Rectangle 16"/>
          <p:cNvSpPr/>
          <p:nvPr/>
        </p:nvSpPr>
        <p:spPr>
          <a:xfrm>
            <a:off x="566928" y="4892040"/>
            <a:ext cx="11057839" cy="1280160"/>
          </a:xfrm>
          <a:prstGeom prst="roundRect">
            <a:avLst>
              <a:gd name="adj" fmla="val 5000"/>
            </a:avLst>
          </a:prstGeom>
          <a:solidFill>
            <a:srgbClr val="E7F2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49808" y="5029200"/>
            <a:ext cx="10692079" cy="164592"/>
          </a:xfrm>
          <a:prstGeom prst="rect">
            <a:avLst/>
          </a:prstGeom>
          <a:noFill/>
        </p:spPr>
        <p:txBody>
          <a:bodyPr wrap="square" anchor="t" lIns="0" rIns="0" tIns="0" bIns="0">
            <a:spAutoFit/>
          </a:bodyPr>
          <a:lstStyle/>
          <a:p>
            <a:pPr algn="l">
              <a:lnSpc>
                <a:spcPct val="125000"/>
              </a:lnSpc>
            </a:pPr>
            <a:r>
              <a:rPr sz="850" b="1" spc="60">
                <a:solidFill>
                  <a:srgbClr val="0F7A4A"/>
                </a:solidFill>
                <a:latin typeface="Segoe UI"/>
              </a:rPr>
              <a:t>CONSTAT</a:t>
            </a:r>
          </a:p>
        </p:txBody>
      </p:sp>
      <p:sp>
        <p:nvSpPr>
          <p:cNvPr id="19" name="TextBox 18"/>
          <p:cNvSpPr txBox="1"/>
          <p:nvPr/>
        </p:nvSpPr>
        <p:spPr>
          <a:xfrm>
            <a:off x="749808" y="5257800"/>
            <a:ext cx="10692079" cy="822960"/>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L'inventaire publie des masses brutes, où une tonne de méthane pèse autant qu'une tonne de CO₂. Or le méthane réchauffe 28 fois plus et le protoxyde d'azote 265 fois plus. « L'énergie ne pèse que 6 % » est donc une lecture comptable, pas une lecture climatique — et ce que cette lecture masque, ce sont les foyers de cuisson.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OÙ AGIR</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9 massifs restent prioritaires quelle que soit la pondération</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9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graphicFrame>
        <p:nvGraphicFramePr>
          <p:cNvPr id="8" name="Chart 7"/>
          <p:cNvGraphicFramePr>
            <a:graphicFrameLocks noGrp="1"/>
          </p:cNvGraphicFramePr>
          <p:nvPr/>
        </p:nvGraphicFramePr>
        <p:xfrm>
          <a:off x="566928" y="1572768"/>
          <a:ext cx="6949440" cy="3712463"/>
        </p:xfrm>
        <a:graphic>
          <a:graphicData uri="http://schemas.openxmlformats.org/drawingml/2006/chart">
            <c:chart xmlns:c="http://schemas.openxmlformats.org/drawingml/2006/chart" r:id="rId3"/>
          </a:graphicData>
        </a:graphic>
      </p:graphicFrame>
      <p:sp>
        <p:nvSpPr>
          <p:cNvPr id="9" name="TextBox 8"/>
          <p:cNvSpPr txBox="1"/>
          <p:nvPr/>
        </p:nvSpPr>
        <p:spPr>
          <a:xfrm>
            <a:off x="7790688" y="1609344"/>
            <a:ext cx="3834079" cy="2286000"/>
          </a:xfrm>
          <a:prstGeom prst="rect">
            <a:avLst/>
          </a:prstGeom>
          <a:noFill/>
        </p:spPr>
        <p:txBody>
          <a:bodyPr wrap="square" anchor="t" lIns="0" rIns="0" tIns="0" bIns="0">
            <a:spAutoFit/>
          </a:bodyPr>
          <a:lstStyle/>
          <a:p>
            <a:pPr algn="l">
              <a:lnSpc>
                <a:spcPct val="140000"/>
              </a:lnSpc>
            </a:pPr>
            <a:r>
              <a:rPr sz="1150" b="0">
                <a:solidFill>
                  <a:srgbClr val="324239"/>
                </a:solidFill>
                <a:latin typeface="Segoe UI"/>
              </a:rPr>
              <a:t>Sur les 53 forêts classées du territoire, 9 ne quittent jamais le top 10, quelle que soit la pondération testée entre enclavement, surface et stress thermique.</a:t>
            </a:r>
          </a:p>
          <a:p>
            <a:pPr algn="l">
              <a:lnSpc>
                <a:spcPct val="140000"/>
              </a:lnSpc>
              <a:spcBef>
                <a:spcPts val="600"/>
              </a:spcBef>
            </a:pPr>
            <a:r>
              <a:rPr sz="1150" b="0">
                <a:solidFill>
                  <a:srgbClr val="324239"/>
                </a:solidFill>
                <a:latin typeface="Segoe UI"/>
              </a:rPr>
              <a:t>Le classement de tête est donc un résultat des données, pas un choix d'analyste : ce sont de grands massifs enclavés, éloignés de tout pôle raccordé, donc soumis à la pression du bois-énergie.</a:t>
            </a:r>
          </a:p>
          <a:p>
            <a:pPr algn="l">
              <a:lnSpc>
                <a:spcPct val="140000"/>
              </a:lnSpc>
              <a:spcBef>
                <a:spcPts val="600"/>
              </a:spcBef>
            </a:pPr>
            <a:r>
              <a:rPr sz="1150" b="0">
                <a:solidFill>
                  <a:srgbClr val="324239"/>
                </a:solidFill>
                <a:latin typeface="Segoe UI"/>
              </a:rPr>
              <a:t>Éloignement médian d'un pôle urbain : 29 km.</a:t>
            </a:r>
          </a:p>
        </p:txBody>
      </p:sp>
      <p:sp>
        <p:nvSpPr>
          <p:cNvPr id="10" name="Rounded Rectangle 9"/>
          <p:cNvSpPr/>
          <p:nvPr/>
        </p:nvSpPr>
        <p:spPr>
          <a:xfrm>
            <a:off x="7790688" y="4114800"/>
            <a:ext cx="3834079" cy="1170432"/>
          </a:xfrm>
          <a:prstGeom prst="roundRect">
            <a:avLst>
              <a:gd name="adj" fmla="val 5000"/>
            </a:avLst>
          </a:prstGeom>
          <a:solidFill>
            <a:srgbClr val="FBF0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973568" y="4251960"/>
            <a:ext cx="3468319" cy="164592"/>
          </a:xfrm>
          <a:prstGeom prst="rect">
            <a:avLst/>
          </a:prstGeom>
          <a:noFill/>
        </p:spPr>
        <p:txBody>
          <a:bodyPr wrap="square" anchor="t" lIns="0" rIns="0" tIns="0" bIns="0">
            <a:spAutoFit/>
          </a:bodyPr>
          <a:lstStyle/>
          <a:p>
            <a:pPr algn="l">
              <a:lnSpc>
                <a:spcPct val="125000"/>
              </a:lnSpc>
            </a:pPr>
            <a:r>
              <a:rPr sz="850" b="1" spc="60">
                <a:solidFill>
                  <a:srgbClr val="B87407"/>
                </a:solidFill>
                <a:latin typeface="Segoe UI"/>
              </a:rPr>
              <a:t>DÉCISION</a:t>
            </a:r>
          </a:p>
        </p:txBody>
      </p:sp>
      <p:sp>
        <p:nvSpPr>
          <p:cNvPr id="12" name="TextBox 11"/>
          <p:cNvSpPr txBox="1"/>
          <p:nvPr/>
        </p:nvSpPr>
        <p:spPr>
          <a:xfrm>
            <a:off x="7973568" y="4480560"/>
            <a:ext cx="3468319" cy="713232"/>
          </a:xfrm>
          <a:prstGeom prst="rect">
            <a:avLst/>
          </a:prstGeom>
          <a:noFill/>
        </p:spPr>
        <p:txBody>
          <a:bodyPr wrap="square" anchor="t" lIns="0" rIns="0" tIns="0" bIns="0">
            <a:spAutoFit/>
          </a:bodyPr>
          <a:lstStyle/>
          <a:p>
            <a:pPr algn="l">
              <a:lnSpc>
                <a:spcPct val="135000"/>
              </a:lnSpc>
            </a:pPr>
            <a:r>
              <a:rPr sz="1100" b="0">
                <a:solidFill>
                  <a:srgbClr val="0C1A14"/>
                </a:solidFill>
                <a:latin typeface="Segoe UI"/>
              </a:rPr>
              <a:t>Ces massifs reçoivent le premier budget de protection. Les forêts dont l'intervalle de rang est large méritent une instruction complémentaire avant tout engagement.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66928" y="420624"/>
            <a:ext cx="11057839" cy="201168"/>
          </a:xfrm>
          <a:prstGeom prst="rect">
            <a:avLst/>
          </a:prstGeom>
          <a:noFill/>
        </p:spPr>
        <p:txBody>
          <a:bodyPr wrap="square" anchor="t" lIns="0" rIns="0" tIns="0" bIns="0">
            <a:spAutoFit/>
          </a:bodyPr>
          <a:lstStyle/>
          <a:p>
            <a:pPr algn="l">
              <a:lnSpc>
                <a:spcPct val="125000"/>
              </a:lnSpc>
            </a:pPr>
            <a:r>
              <a:rPr sz="950" b="1" spc="70">
                <a:solidFill>
                  <a:srgbClr val="5D6E64"/>
                </a:solidFill>
                <a:latin typeface="Segoe UI"/>
              </a:rPr>
              <a:t>RECOMMANDATIONS</a:t>
            </a:r>
          </a:p>
        </p:txBody>
      </p:sp>
      <p:sp>
        <p:nvSpPr>
          <p:cNvPr id="4" name="TextBox 3"/>
          <p:cNvSpPr txBox="1"/>
          <p:nvPr/>
        </p:nvSpPr>
        <p:spPr>
          <a:xfrm>
            <a:off x="566928" y="658368"/>
            <a:ext cx="11057839" cy="841248"/>
          </a:xfrm>
          <a:prstGeom prst="rect">
            <a:avLst/>
          </a:prstGeom>
          <a:noFill/>
        </p:spPr>
        <p:txBody>
          <a:bodyPr wrap="square" anchor="t" lIns="0" rIns="0" tIns="0" bIns="0">
            <a:spAutoFit/>
          </a:bodyPr>
          <a:lstStyle/>
          <a:p>
            <a:pPr algn="l">
              <a:lnSpc>
                <a:spcPct val="106000"/>
              </a:lnSpc>
            </a:pPr>
            <a:r>
              <a:rPr sz="2550" b="1">
                <a:solidFill>
                  <a:srgbClr val="0C1A14"/>
                </a:solidFill>
                <a:latin typeface="Segoe UI"/>
              </a:rPr>
              <a:t>Quatre leviers, dans cet ordre</a:t>
            </a:r>
          </a:p>
        </p:txBody>
      </p:sp>
      <p:sp>
        <p:nvSpPr>
          <p:cNvPr id="5" name="TextBox 4"/>
          <p:cNvSpPr txBox="1"/>
          <p:nvPr/>
        </p:nvSpPr>
        <p:spPr>
          <a:xfrm>
            <a:off x="896112" y="6437376"/>
            <a:ext cx="11057839" cy="182880"/>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Défi 2 · Énergie, Climat &amp; Forêts au Togo</a:t>
            </a:r>
          </a:p>
        </p:txBody>
      </p:sp>
      <p:sp>
        <p:nvSpPr>
          <p:cNvPr id="6" name="TextBox 5"/>
          <p:cNvSpPr txBox="1"/>
          <p:nvPr/>
        </p:nvSpPr>
        <p:spPr>
          <a:xfrm>
            <a:off x="11076127" y="6437376"/>
            <a:ext cx="548640" cy="182880"/>
          </a:xfrm>
          <a:prstGeom prst="rect">
            <a:avLst/>
          </a:prstGeom>
          <a:noFill/>
        </p:spPr>
        <p:txBody>
          <a:bodyPr wrap="square" anchor="t" lIns="0" rIns="0" tIns="0" bIns="0">
            <a:spAutoFit/>
          </a:bodyPr>
          <a:lstStyle/>
          <a:p>
            <a:pPr algn="r">
              <a:lnSpc>
                <a:spcPct val="125000"/>
              </a:lnSpc>
            </a:pPr>
            <a:r>
              <a:rPr sz="850" b="0">
                <a:solidFill>
                  <a:srgbClr val="5D6E64"/>
                </a:solidFill>
                <a:latin typeface="Segoe UI"/>
              </a:rPr>
              <a:t>10 / 10</a:t>
            </a:r>
          </a:p>
        </p:txBody>
      </p:sp>
      <p:pic>
        <p:nvPicPr>
          <p:cNvPr id="7" name="Picture 6" descr="armoiries_togo.png"/>
          <p:cNvPicPr>
            <a:picLocks noChangeAspect="1"/>
          </p:cNvPicPr>
          <p:nvPr/>
        </p:nvPicPr>
        <p:blipFill>
          <a:blip r:embed="rId2"/>
          <a:stretch>
            <a:fillRect/>
          </a:stretch>
        </p:blipFill>
        <p:spPr>
          <a:xfrm>
            <a:off x="548640" y="6327648"/>
            <a:ext cx="216073" cy="310896"/>
          </a:xfrm>
          <a:prstGeom prst="rect">
            <a:avLst/>
          </a:prstGeom>
        </p:spPr>
      </p:pic>
      <p:sp>
        <p:nvSpPr>
          <p:cNvPr id="8" name="Rounded Rectangle 7"/>
          <p:cNvSpPr/>
          <p:nvPr/>
        </p:nvSpPr>
        <p:spPr>
          <a:xfrm>
            <a:off x="566928" y="1572768"/>
            <a:ext cx="11057839" cy="10972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49808" y="1810512"/>
            <a:ext cx="411480" cy="384048"/>
          </a:xfrm>
          <a:prstGeom prst="rect">
            <a:avLst/>
          </a:prstGeom>
          <a:noFill/>
        </p:spPr>
        <p:txBody>
          <a:bodyPr wrap="square" anchor="t" lIns="0" rIns="0" tIns="0" bIns="0">
            <a:spAutoFit/>
          </a:bodyPr>
          <a:lstStyle/>
          <a:p>
            <a:pPr algn="l">
              <a:lnSpc>
                <a:spcPct val="100000"/>
              </a:lnSpc>
            </a:pPr>
            <a:r>
              <a:rPr sz="2400" b="1">
                <a:solidFill>
                  <a:srgbClr val="B32418"/>
                </a:solidFill>
                <a:latin typeface="Segoe UI"/>
              </a:rPr>
              <a:t>1</a:t>
            </a:r>
          </a:p>
        </p:txBody>
      </p:sp>
      <p:sp>
        <p:nvSpPr>
          <p:cNvPr id="10" name="TextBox 9"/>
          <p:cNvSpPr txBox="1"/>
          <p:nvPr/>
        </p:nvSpPr>
        <p:spPr>
          <a:xfrm>
            <a:off x="1170432" y="1719072"/>
            <a:ext cx="3017520" cy="256032"/>
          </a:xfrm>
          <a:prstGeom prst="rect">
            <a:avLst/>
          </a:prstGeom>
          <a:noFill/>
        </p:spPr>
        <p:txBody>
          <a:bodyPr wrap="square" anchor="t" lIns="0" rIns="0" tIns="0" bIns="0">
            <a:spAutoFit/>
          </a:bodyPr>
          <a:lstStyle/>
          <a:p>
            <a:pPr algn="l">
              <a:lnSpc>
                <a:spcPct val="125000"/>
              </a:lnSpc>
            </a:pPr>
            <a:r>
              <a:rPr sz="1250" b="1">
                <a:solidFill>
                  <a:srgbClr val="0C1A14"/>
                </a:solidFill>
                <a:latin typeface="Segoe UI"/>
              </a:rPr>
              <a:t>Cuisson propre</a:t>
            </a:r>
          </a:p>
        </p:txBody>
      </p:sp>
      <p:sp>
        <p:nvSpPr>
          <p:cNvPr id="11" name="TextBox 10"/>
          <p:cNvSpPr txBox="1"/>
          <p:nvPr/>
        </p:nvSpPr>
        <p:spPr>
          <a:xfrm>
            <a:off x="1170432" y="2011680"/>
            <a:ext cx="3108960" cy="585216"/>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GPL subventionné en zone périurbaine, foyers améliorés certifiés en zone rurale enclavée.</a:t>
            </a:r>
          </a:p>
        </p:txBody>
      </p:sp>
      <p:sp>
        <p:nvSpPr>
          <p:cNvPr id="12" name="TextBox 11"/>
          <p:cNvSpPr txBox="1"/>
          <p:nvPr/>
        </p:nvSpPr>
        <p:spPr>
          <a:xfrm>
            <a:off x="4590288" y="172821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PORTÉE DIRECTE</a:t>
            </a:r>
          </a:p>
        </p:txBody>
      </p:sp>
      <p:sp>
        <p:nvSpPr>
          <p:cNvPr id="13" name="TextBox 12"/>
          <p:cNvSpPr txBox="1"/>
          <p:nvPr/>
        </p:nvSpPr>
        <p:spPr>
          <a:xfrm>
            <a:off x="4590288" y="192024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8,1 M de personnes</a:t>
            </a:r>
          </a:p>
        </p:txBody>
      </p:sp>
      <p:sp>
        <p:nvSpPr>
          <p:cNvPr id="14" name="TextBox 13"/>
          <p:cNvSpPr txBox="1"/>
          <p:nvPr/>
        </p:nvSpPr>
        <p:spPr>
          <a:xfrm>
            <a:off x="6967728" y="172821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CIBLE 2030</a:t>
            </a:r>
          </a:p>
        </p:txBody>
      </p:sp>
      <p:sp>
        <p:nvSpPr>
          <p:cNvPr id="15" name="TextBox 14"/>
          <p:cNvSpPr txBox="1"/>
          <p:nvPr/>
        </p:nvSpPr>
        <p:spPr>
          <a:xfrm>
            <a:off x="6967728" y="192024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De 0,9 % à 15 % d'accès rural à une cuisson propre en 2030</a:t>
            </a:r>
          </a:p>
        </p:txBody>
      </p:sp>
      <p:sp>
        <p:nvSpPr>
          <p:cNvPr id="16" name="TextBox 15"/>
          <p:cNvSpPr txBox="1"/>
          <p:nvPr/>
        </p:nvSpPr>
        <p:spPr>
          <a:xfrm>
            <a:off x="9345168" y="172821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INDICATEUR DE SUIVI</a:t>
            </a:r>
          </a:p>
        </p:txBody>
      </p:sp>
      <p:sp>
        <p:nvSpPr>
          <p:cNvPr id="17" name="TextBox 16"/>
          <p:cNvSpPr txBox="1"/>
          <p:nvPr/>
        </p:nvSpPr>
        <p:spPr>
          <a:xfrm>
            <a:off x="9345168" y="192024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EG.CFT.ACCS.RU.ZS — et non le taux d'énergie renouvelable</a:t>
            </a:r>
          </a:p>
        </p:txBody>
      </p:sp>
      <p:sp>
        <p:nvSpPr>
          <p:cNvPr id="18" name="Rounded Rectangle 17"/>
          <p:cNvSpPr/>
          <p:nvPr/>
        </p:nvSpPr>
        <p:spPr>
          <a:xfrm>
            <a:off x="566928" y="2761488"/>
            <a:ext cx="11057839" cy="10972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49808" y="2999232"/>
            <a:ext cx="411480" cy="384048"/>
          </a:xfrm>
          <a:prstGeom prst="rect">
            <a:avLst/>
          </a:prstGeom>
          <a:noFill/>
        </p:spPr>
        <p:txBody>
          <a:bodyPr wrap="square" anchor="t" lIns="0" rIns="0" tIns="0" bIns="0">
            <a:spAutoFit/>
          </a:bodyPr>
          <a:lstStyle/>
          <a:p>
            <a:pPr algn="l">
              <a:lnSpc>
                <a:spcPct val="100000"/>
              </a:lnSpc>
            </a:pPr>
            <a:r>
              <a:rPr sz="2400" b="1">
                <a:solidFill>
                  <a:srgbClr val="B87407"/>
                </a:solidFill>
                <a:latin typeface="Segoe UI"/>
              </a:rPr>
              <a:t>2</a:t>
            </a:r>
          </a:p>
        </p:txBody>
      </p:sp>
      <p:sp>
        <p:nvSpPr>
          <p:cNvPr id="20" name="TextBox 19"/>
          <p:cNvSpPr txBox="1"/>
          <p:nvPr/>
        </p:nvSpPr>
        <p:spPr>
          <a:xfrm>
            <a:off x="1170432" y="2907792"/>
            <a:ext cx="3017520" cy="256032"/>
          </a:xfrm>
          <a:prstGeom prst="rect">
            <a:avLst/>
          </a:prstGeom>
          <a:noFill/>
        </p:spPr>
        <p:txBody>
          <a:bodyPr wrap="square" anchor="t" lIns="0" rIns="0" tIns="0" bIns="0">
            <a:spAutoFit/>
          </a:bodyPr>
          <a:lstStyle/>
          <a:p>
            <a:pPr algn="l">
              <a:lnSpc>
                <a:spcPct val="125000"/>
              </a:lnSpc>
            </a:pPr>
            <a:r>
              <a:rPr sz="1250" b="1">
                <a:solidFill>
                  <a:srgbClr val="0C1A14"/>
                </a:solidFill>
                <a:latin typeface="Segoe UI"/>
              </a:rPr>
              <a:t>Solaire villageois décentralisé</a:t>
            </a:r>
          </a:p>
        </p:txBody>
      </p:sp>
      <p:sp>
        <p:nvSpPr>
          <p:cNvPr id="21" name="TextBox 20"/>
          <p:cNvSpPr txBox="1"/>
          <p:nvPr/>
        </p:nvSpPr>
        <p:spPr>
          <a:xfrm>
            <a:off x="1170432" y="3200400"/>
            <a:ext cx="3108960" cy="585216"/>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Mini-réseaux avec stockage pour les gros bourgs, kits domestiques pour l'habitat dispersé, dimensionnés sur les usages productifs.</a:t>
            </a:r>
          </a:p>
        </p:txBody>
      </p:sp>
      <p:sp>
        <p:nvSpPr>
          <p:cNvPr id="22" name="TextBox 21"/>
          <p:cNvSpPr txBox="1"/>
          <p:nvPr/>
        </p:nvSpPr>
        <p:spPr>
          <a:xfrm>
            <a:off x="4590288" y="291693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PORTÉE DIRECTE</a:t>
            </a:r>
          </a:p>
        </p:txBody>
      </p:sp>
      <p:sp>
        <p:nvSpPr>
          <p:cNvPr id="23" name="TextBox 22"/>
          <p:cNvSpPr txBox="1"/>
          <p:nvPr/>
        </p:nvSpPr>
        <p:spPr>
          <a:xfrm>
            <a:off x="4590288" y="310896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3,7 M de ruraux sans électricité</a:t>
            </a:r>
          </a:p>
        </p:txBody>
      </p:sp>
      <p:sp>
        <p:nvSpPr>
          <p:cNvPr id="24" name="TextBox 23"/>
          <p:cNvSpPr txBox="1"/>
          <p:nvPr/>
        </p:nvSpPr>
        <p:spPr>
          <a:xfrm>
            <a:off x="6967728" y="291693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CIBLE 2030</a:t>
            </a:r>
          </a:p>
        </p:txBody>
      </p:sp>
      <p:sp>
        <p:nvSpPr>
          <p:cNvPr id="25" name="TextBox 24"/>
          <p:cNvSpPr txBox="1"/>
          <p:nvPr/>
        </p:nvSpPr>
        <p:spPr>
          <a:xfrm>
            <a:off x="6967728" y="310896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Dépasser 65 700 raccordements ruraux par an — le seuil démographique — puis viser l'accès universel</a:t>
            </a:r>
          </a:p>
        </p:txBody>
      </p:sp>
      <p:sp>
        <p:nvSpPr>
          <p:cNvPr id="26" name="TextBox 25"/>
          <p:cNvSpPr txBox="1"/>
          <p:nvPr/>
        </p:nvSpPr>
        <p:spPr>
          <a:xfrm>
            <a:off x="9345168" y="291693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INDICATEUR DE SUIVI</a:t>
            </a:r>
          </a:p>
        </p:txBody>
      </p:sp>
      <p:sp>
        <p:nvSpPr>
          <p:cNvPr id="27" name="TextBox 26"/>
          <p:cNvSpPr txBox="1"/>
          <p:nvPr/>
        </p:nvSpPr>
        <p:spPr>
          <a:xfrm>
            <a:off x="9345168" y="310896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Le volume annuel de raccordements, et non le seul taux d'accès</a:t>
            </a:r>
          </a:p>
        </p:txBody>
      </p:sp>
      <p:sp>
        <p:nvSpPr>
          <p:cNvPr id="28" name="Rounded Rectangle 27"/>
          <p:cNvSpPr/>
          <p:nvPr/>
        </p:nvSpPr>
        <p:spPr>
          <a:xfrm>
            <a:off x="566928" y="3950208"/>
            <a:ext cx="11057839" cy="10972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9808" y="4187952"/>
            <a:ext cx="411480" cy="384048"/>
          </a:xfrm>
          <a:prstGeom prst="rect">
            <a:avLst/>
          </a:prstGeom>
          <a:noFill/>
        </p:spPr>
        <p:txBody>
          <a:bodyPr wrap="square" anchor="t" lIns="0" rIns="0" tIns="0" bIns="0">
            <a:spAutoFit/>
          </a:bodyPr>
          <a:lstStyle/>
          <a:p>
            <a:pPr algn="l">
              <a:lnSpc>
                <a:spcPct val="100000"/>
              </a:lnSpc>
            </a:pPr>
            <a:r>
              <a:rPr sz="2400" b="1">
                <a:solidFill>
                  <a:srgbClr val="0F7A4A"/>
                </a:solidFill>
                <a:latin typeface="Segoe UI"/>
              </a:rPr>
              <a:t>3</a:t>
            </a:r>
          </a:p>
        </p:txBody>
      </p:sp>
      <p:sp>
        <p:nvSpPr>
          <p:cNvPr id="30" name="TextBox 29"/>
          <p:cNvSpPr txBox="1"/>
          <p:nvPr/>
        </p:nvSpPr>
        <p:spPr>
          <a:xfrm>
            <a:off x="1170432" y="4096512"/>
            <a:ext cx="3017520" cy="256032"/>
          </a:xfrm>
          <a:prstGeom prst="rect">
            <a:avLst/>
          </a:prstGeom>
          <a:noFill/>
        </p:spPr>
        <p:txBody>
          <a:bodyPr wrap="square" anchor="t" lIns="0" rIns="0" tIns="0" bIns="0">
            <a:spAutoFit/>
          </a:bodyPr>
          <a:lstStyle/>
          <a:p>
            <a:pPr algn="l">
              <a:lnSpc>
                <a:spcPct val="125000"/>
              </a:lnSpc>
            </a:pPr>
            <a:r>
              <a:rPr sz="1250" b="1">
                <a:solidFill>
                  <a:srgbClr val="0C1A14"/>
                </a:solidFill>
                <a:latin typeface="Segoe UI"/>
              </a:rPr>
              <a:t>Protection ciblée des massifs</a:t>
            </a:r>
          </a:p>
        </p:txBody>
      </p:sp>
      <p:sp>
        <p:nvSpPr>
          <p:cNvPr id="31" name="TextBox 30"/>
          <p:cNvSpPr txBox="1"/>
          <p:nvPr/>
        </p:nvSpPr>
        <p:spPr>
          <a:xfrm>
            <a:off x="1170432" y="4389120"/>
            <a:ext cx="3108960" cy="585216"/>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Surveillance, régénération assistée et agroforesterie concentrées sur les massifs prioritaires plutôt que saupoudrées.</a:t>
            </a:r>
          </a:p>
        </p:txBody>
      </p:sp>
      <p:sp>
        <p:nvSpPr>
          <p:cNvPr id="32" name="TextBox 31"/>
          <p:cNvSpPr txBox="1"/>
          <p:nvPr/>
        </p:nvSpPr>
        <p:spPr>
          <a:xfrm>
            <a:off x="4590288" y="410565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PORTÉE DIRECTE</a:t>
            </a:r>
          </a:p>
        </p:txBody>
      </p:sp>
      <p:sp>
        <p:nvSpPr>
          <p:cNvPr id="33" name="TextBox 32"/>
          <p:cNvSpPr txBox="1"/>
          <p:nvPr/>
        </p:nvSpPr>
        <p:spPr>
          <a:xfrm>
            <a:off x="4590288" y="429768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9 massifs · 91 468 ha de forêts classées</a:t>
            </a:r>
          </a:p>
        </p:txBody>
      </p:sp>
      <p:sp>
        <p:nvSpPr>
          <p:cNvPr id="34" name="TextBox 33"/>
          <p:cNvSpPr txBox="1"/>
          <p:nvPr/>
        </p:nvSpPr>
        <p:spPr>
          <a:xfrm>
            <a:off x="6967728" y="410565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CIBLE 2030</a:t>
            </a:r>
          </a:p>
        </p:txBody>
      </p:sp>
      <p:sp>
        <p:nvSpPr>
          <p:cNvPr id="35" name="TextBox 34"/>
          <p:cNvSpPr txBox="1"/>
          <p:nvPr/>
        </p:nvSpPr>
        <p:spPr>
          <a:xfrm>
            <a:off x="6967728" y="429768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Perte nette nulle sur les massifs prioritaires</a:t>
            </a:r>
          </a:p>
        </p:txBody>
      </p:sp>
      <p:sp>
        <p:nvSpPr>
          <p:cNvPr id="36" name="TextBox 35"/>
          <p:cNvSpPr txBox="1"/>
          <p:nvPr/>
        </p:nvSpPr>
        <p:spPr>
          <a:xfrm>
            <a:off x="9345168" y="410565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INDICATEUR DE SUIVI</a:t>
            </a:r>
          </a:p>
        </p:txBody>
      </p:sp>
      <p:sp>
        <p:nvSpPr>
          <p:cNvPr id="37" name="TextBox 36"/>
          <p:cNvSpPr txBox="1"/>
          <p:nvPr/>
        </p:nvSpPr>
        <p:spPr>
          <a:xfrm>
            <a:off x="9345168" y="429768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Un suivi surfacique par massif, à créer : AG.LND.FRST.K2 ne contient que 3 mesures indépendantes</a:t>
            </a:r>
          </a:p>
        </p:txBody>
      </p:sp>
      <p:sp>
        <p:nvSpPr>
          <p:cNvPr id="38" name="Rounded Rectangle 37"/>
          <p:cNvSpPr/>
          <p:nvPr/>
        </p:nvSpPr>
        <p:spPr>
          <a:xfrm>
            <a:off x="566928" y="5138928"/>
            <a:ext cx="11057839" cy="1097280"/>
          </a:xfrm>
          <a:prstGeom prst="roundRect">
            <a:avLst>
              <a:gd name="adj" fmla="val 5000"/>
            </a:avLst>
          </a:prstGeom>
          <a:solidFill>
            <a:srgbClr val="FFFFFF"/>
          </a:solidFill>
          <a:ln w="9525">
            <a:solidFill>
              <a:srgbClr val="D5DE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49808" y="5376672"/>
            <a:ext cx="411480" cy="384048"/>
          </a:xfrm>
          <a:prstGeom prst="rect">
            <a:avLst/>
          </a:prstGeom>
          <a:noFill/>
        </p:spPr>
        <p:txBody>
          <a:bodyPr wrap="square" anchor="t" lIns="0" rIns="0" tIns="0" bIns="0">
            <a:spAutoFit/>
          </a:bodyPr>
          <a:lstStyle/>
          <a:p>
            <a:pPr algn="l">
              <a:lnSpc>
                <a:spcPct val="100000"/>
              </a:lnSpc>
            </a:pPr>
            <a:r>
              <a:rPr sz="2400" b="1">
                <a:solidFill>
                  <a:srgbClr val="7C441F"/>
                </a:solidFill>
                <a:latin typeface="Segoe UI"/>
              </a:rPr>
              <a:t>4</a:t>
            </a:r>
          </a:p>
        </p:txBody>
      </p:sp>
      <p:sp>
        <p:nvSpPr>
          <p:cNvPr id="40" name="TextBox 39"/>
          <p:cNvSpPr txBox="1"/>
          <p:nvPr/>
        </p:nvSpPr>
        <p:spPr>
          <a:xfrm>
            <a:off x="1170432" y="5285232"/>
            <a:ext cx="3017520" cy="256032"/>
          </a:xfrm>
          <a:prstGeom prst="rect">
            <a:avLst/>
          </a:prstGeom>
          <a:noFill/>
        </p:spPr>
        <p:txBody>
          <a:bodyPr wrap="square" anchor="t" lIns="0" rIns="0" tIns="0" bIns="0">
            <a:spAutoFit/>
          </a:bodyPr>
          <a:lstStyle/>
          <a:p>
            <a:pPr algn="l">
              <a:lnSpc>
                <a:spcPct val="125000"/>
              </a:lnSpc>
            </a:pPr>
            <a:r>
              <a:rPr sz="1250" b="1">
                <a:solidFill>
                  <a:srgbClr val="0C1A14"/>
                </a:solidFill>
                <a:latin typeface="Segoe UI"/>
              </a:rPr>
              <a:t>Intensification agricole</a:t>
            </a:r>
          </a:p>
        </p:txBody>
      </p:sp>
      <p:sp>
        <p:nvSpPr>
          <p:cNvPr id="41" name="TextBox 40"/>
          <p:cNvSpPr txBox="1"/>
          <p:nvPr/>
        </p:nvSpPr>
        <p:spPr>
          <a:xfrm>
            <a:off x="1170432" y="5577840"/>
            <a:ext cx="3108960" cy="585216"/>
          </a:xfrm>
          <a:prstGeom prst="rect">
            <a:avLst/>
          </a:prstGeom>
          <a:noFill/>
        </p:spPr>
        <p:txBody>
          <a:bodyPr wrap="square" anchor="t" lIns="0" rIns="0" tIns="0" bIns="0">
            <a:spAutoFit/>
          </a:bodyPr>
          <a:lstStyle/>
          <a:p>
            <a:pPr algn="l">
              <a:lnSpc>
                <a:spcPct val="125000"/>
              </a:lnSpc>
            </a:pPr>
            <a:r>
              <a:rPr sz="850" b="0">
                <a:solidFill>
                  <a:srgbClr val="5D6E64"/>
                </a:solidFill>
                <a:latin typeface="Segoe UI"/>
              </a:rPr>
              <a:t>Semences améliorées, fertilité des sols et conseil agricole sur les bassins céréaliers riverains des massifs prioritaires.</a:t>
            </a:r>
          </a:p>
        </p:txBody>
      </p:sp>
      <p:sp>
        <p:nvSpPr>
          <p:cNvPr id="42" name="TextBox 41"/>
          <p:cNvSpPr txBox="1"/>
          <p:nvPr/>
        </p:nvSpPr>
        <p:spPr>
          <a:xfrm>
            <a:off x="4590288" y="529437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PORTÉE DIRECTE</a:t>
            </a:r>
          </a:p>
        </p:txBody>
      </p:sp>
      <p:sp>
        <p:nvSpPr>
          <p:cNvPr id="43" name="TextBox 42"/>
          <p:cNvSpPr txBox="1"/>
          <p:nvPr/>
        </p:nvSpPr>
        <p:spPr>
          <a:xfrm>
            <a:off x="4590288" y="548640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19 700 ha défrichés par an, soit 6.7 × la perte forestière</a:t>
            </a:r>
          </a:p>
        </p:txBody>
      </p:sp>
      <p:sp>
        <p:nvSpPr>
          <p:cNvPr id="44" name="TextBox 43"/>
          <p:cNvSpPr txBox="1"/>
          <p:nvPr/>
        </p:nvSpPr>
        <p:spPr>
          <a:xfrm>
            <a:off x="6967728" y="529437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CIBLE 2030</a:t>
            </a:r>
          </a:p>
        </p:txBody>
      </p:sp>
      <p:sp>
        <p:nvSpPr>
          <p:cNvPr id="45" name="TextBox 44"/>
          <p:cNvSpPr txBox="1"/>
          <p:nvPr/>
        </p:nvSpPr>
        <p:spPr>
          <a:xfrm>
            <a:off x="6967728" y="548640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Ramener l'expansion des surfaces céréalières vers zéro</a:t>
            </a:r>
          </a:p>
        </p:txBody>
      </p:sp>
      <p:sp>
        <p:nvSpPr>
          <p:cNvPr id="46" name="TextBox 45"/>
          <p:cNvSpPr txBox="1"/>
          <p:nvPr/>
        </p:nvSpPr>
        <p:spPr>
          <a:xfrm>
            <a:off x="9345168" y="5294376"/>
            <a:ext cx="2194560" cy="146304"/>
          </a:xfrm>
          <a:prstGeom prst="rect">
            <a:avLst/>
          </a:prstGeom>
          <a:noFill/>
        </p:spPr>
        <p:txBody>
          <a:bodyPr wrap="square" anchor="t" lIns="0" rIns="0" tIns="0" bIns="0">
            <a:spAutoFit/>
          </a:bodyPr>
          <a:lstStyle/>
          <a:p>
            <a:pPr algn="l">
              <a:lnSpc>
                <a:spcPct val="125000"/>
              </a:lnSpc>
            </a:pPr>
            <a:r>
              <a:rPr sz="750" b="1" spc="50">
                <a:solidFill>
                  <a:srgbClr val="5D6E64"/>
                </a:solidFill>
                <a:latin typeface="Segoe UI"/>
              </a:rPr>
              <a:t>INDICATEUR DE SUIVI</a:t>
            </a:r>
          </a:p>
        </p:txBody>
      </p:sp>
      <p:sp>
        <p:nvSpPr>
          <p:cNvPr id="47" name="TextBox 46"/>
          <p:cNvSpPr txBox="1"/>
          <p:nvPr/>
        </p:nvSpPr>
        <p:spPr>
          <a:xfrm>
            <a:off x="9345168" y="5486400"/>
            <a:ext cx="2212848" cy="694944"/>
          </a:xfrm>
          <a:prstGeom prst="rect">
            <a:avLst/>
          </a:prstGeom>
          <a:noFill/>
        </p:spPr>
        <p:txBody>
          <a:bodyPr wrap="square" anchor="t" lIns="0" rIns="0" tIns="0" bIns="0">
            <a:spAutoFit/>
          </a:bodyPr>
          <a:lstStyle/>
          <a:p>
            <a:pPr algn="l">
              <a:lnSpc>
                <a:spcPct val="125000"/>
              </a:lnSpc>
            </a:pPr>
            <a:r>
              <a:rPr sz="850" b="0">
                <a:solidFill>
                  <a:srgbClr val="0C1A14"/>
                </a:solidFill>
                <a:latin typeface="Segoe UI"/>
              </a:rPr>
              <a:t>AG.PRD.CREL.MT / AG.LND.CREL.HA, lus comme un rendement en t/ha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